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111125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111125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111125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111125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111125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424928" y="0"/>
            <a:ext cx="4763770" cy="6858634"/>
          </a:xfrm>
          <a:custGeom>
            <a:avLst/>
            <a:gdLst/>
            <a:ahLst/>
            <a:cxnLst/>
            <a:rect l="l" t="t" r="r" b="b"/>
            <a:pathLst>
              <a:path w="4763770" h="6858634">
                <a:moveTo>
                  <a:pt x="1946148" y="0"/>
                </a:moveTo>
                <a:lnTo>
                  <a:pt x="3165348" y="6857999"/>
                </a:lnTo>
              </a:path>
              <a:path w="4763770" h="6858634">
                <a:moveTo>
                  <a:pt x="4763516" y="3681983"/>
                </a:moveTo>
                <a:lnTo>
                  <a:pt x="0" y="6858570"/>
                </a:lnTo>
              </a:path>
            </a:pathLst>
          </a:custGeom>
          <a:ln w="9525">
            <a:solidFill>
              <a:srgbClr val="5FCAE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9182100" y="0"/>
            <a:ext cx="3007360" cy="6858000"/>
          </a:xfrm>
          <a:custGeom>
            <a:avLst/>
            <a:gdLst/>
            <a:ahLst/>
            <a:cxnLst/>
            <a:rect l="l" t="t" r="r" b="b"/>
            <a:pathLst>
              <a:path w="3007359" h="6858000">
                <a:moveTo>
                  <a:pt x="3006852" y="0"/>
                </a:moveTo>
                <a:lnTo>
                  <a:pt x="2042484" y="0"/>
                </a:lnTo>
                <a:lnTo>
                  <a:pt x="0" y="6858000"/>
                </a:lnTo>
                <a:lnTo>
                  <a:pt x="3006852" y="6858000"/>
                </a:lnTo>
                <a:lnTo>
                  <a:pt x="3006852" y="0"/>
                </a:lnTo>
                <a:close/>
              </a:path>
            </a:pathLst>
          </a:custGeom>
          <a:solidFill>
            <a:srgbClr val="5FCAEE">
              <a:alpha val="3607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604335" y="0"/>
            <a:ext cx="2588260" cy="6858000"/>
          </a:xfrm>
          <a:custGeom>
            <a:avLst/>
            <a:gdLst/>
            <a:ahLst/>
            <a:cxnLst/>
            <a:rect l="l" t="t" r="r" b="b"/>
            <a:pathLst>
              <a:path w="2588259" h="6858000">
                <a:moveTo>
                  <a:pt x="2587665" y="0"/>
                </a:moveTo>
                <a:lnTo>
                  <a:pt x="0" y="0"/>
                </a:lnTo>
                <a:lnTo>
                  <a:pt x="1208191" y="6857999"/>
                </a:lnTo>
                <a:lnTo>
                  <a:pt x="2587665" y="6857999"/>
                </a:lnTo>
                <a:lnTo>
                  <a:pt x="2587665" y="0"/>
                </a:lnTo>
                <a:close/>
              </a:path>
            </a:pathLst>
          </a:custGeom>
          <a:solidFill>
            <a:srgbClr val="5FCAEE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8932164" y="3048000"/>
            <a:ext cx="3260090" cy="3810000"/>
          </a:xfrm>
          <a:custGeom>
            <a:avLst/>
            <a:gdLst/>
            <a:ahLst/>
            <a:cxnLst/>
            <a:rect l="l" t="t" r="r" b="b"/>
            <a:pathLst>
              <a:path w="3260090" h="3810000">
                <a:moveTo>
                  <a:pt x="3259835" y="0"/>
                </a:moveTo>
                <a:lnTo>
                  <a:pt x="0" y="3809999"/>
                </a:lnTo>
                <a:lnTo>
                  <a:pt x="3259835" y="3809999"/>
                </a:lnTo>
                <a:lnTo>
                  <a:pt x="3259835" y="0"/>
                </a:lnTo>
                <a:close/>
              </a:path>
            </a:pathLst>
          </a:custGeom>
          <a:solidFill>
            <a:srgbClr val="17AFE3">
              <a:alpha val="6588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9337790" y="0"/>
            <a:ext cx="2851785" cy="6858000"/>
          </a:xfrm>
          <a:custGeom>
            <a:avLst/>
            <a:gdLst/>
            <a:ahLst/>
            <a:cxnLst/>
            <a:rect l="l" t="t" r="r" b="b"/>
            <a:pathLst>
              <a:path w="2851784" h="6858000">
                <a:moveTo>
                  <a:pt x="2851161" y="0"/>
                </a:moveTo>
                <a:lnTo>
                  <a:pt x="0" y="0"/>
                </a:lnTo>
                <a:lnTo>
                  <a:pt x="2467621" y="6858000"/>
                </a:lnTo>
                <a:lnTo>
                  <a:pt x="2851161" y="6858000"/>
                </a:lnTo>
                <a:lnTo>
                  <a:pt x="2851161" y="0"/>
                </a:lnTo>
                <a:close/>
              </a:path>
            </a:pathLst>
          </a:custGeom>
          <a:solidFill>
            <a:srgbClr val="17AFE3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0898124" y="0"/>
            <a:ext cx="1290955" cy="6858000"/>
          </a:xfrm>
          <a:custGeom>
            <a:avLst/>
            <a:gdLst/>
            <a:ahLst/>
            <a:cxnLst/>
            <a:rect l="l" t="t" r="r" b="b"/>
            <a:pathLst>
              <a:path w="1290954" h="6858000">
                <a:moveTo>
                  <a:pt x="1290828" y="0"/>
                </a:moveTo>
                <a:lnTo>
                  <a:pt x="1018959" y="0"/>
                </a:lnTo>
                <a:lnTo>
                  <a:pt x="0" y="6858000"/>
                </a:lnTo>
                <a:lnTo>
                  <a:pt x="1290828" y="6858000"/>
                </a:lnTo>
                <a:lnTo>
                  <a:pt x="1290828" y="0"/>
                </a:lnTo>
                <a:close/>
              </a:path>
            </a:pathLst>
          </a:custGeom>
          <a:solidFill>
            <a:srgbClr val="2D83C3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0940749" y="0"/>
            <a:ext cx="1248410" cy="6858000"/>
          </a:xfrm>
          <a:custGeom>
            <a:avLst/>
            <a:gdLst/>
            <a:ahLst/>
            <a:cxnLst/>
            <a:rect l="l" t="t" r="r" b="b"/>
            <a:pathLst>
              <a:path w="1248409" h="6858000">
                <a:moveTo>
                  <a:pt x="1248203" y="0"/>
                </a:moveTo>
                <a:lnTo>
                  <a:pt x="0" y="0"/>
                </a:lnTo>
                <a:lnTo>
                  <a:pt x="1107741" y="6858000"/>
                </a:lnTo>
                <a:lnTo>
                  <a:pt x="1248203" y="6858000"/>
                </a:lnTo>
                <a:lnTo>
                  <a:pt x="1248203" y="0"/>
                </a:lnTo>
                <a:close/>
              </a:path>
            </a:pathLst>
          </a:custGeom>
          <a:solidFill>
            <a:srgbClr val="226192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0372344" y="3590544"/>
            <a:ext cx="1816735" cy="3267710"/>
          </a:xfrm>
          <a:custGeom>
            <a:avLst/>
            <a:gdLst/>
            <a:ahLst/>
            <a:cxnLst/>
            <a:rect l="l" t="t" r="r" b="b"/>
            <a:pathLst>
              <a:path w="1816734" h="3267709">
                <a:moveTo>
                  <a:pt x="1816607" y="0"/>
                </a:moveTo>
                <a:lnTo>
                  <a:pt x="0" y="3267455"/>
                </a:lnTo>
                <a:lnTo>
                  <a:pt x="1816607" y="3267455"/>
                </a:lnTo>
                <a:lnTo>
                  <a:pt x="1816607" y="0"/>
                </a:lnTo>
                <a:close/>
              </a:path>
            </a:pathLst>
          </a:custGeom>
          <a:solidFill>
            <a:srgbClr val="17AFE3">
              <a:alpha val="6588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98703" y="385698"/>
            <a:ext cx="10794593" cy="27579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72361" y="1784731"/>
            <a:ext cx="8027670" cy="39281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272773" y="6470114"/>
            <a:ext cx="235712" cy="188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111125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hyperlink" Target="https://github.com/VenkataSatyaSrikarParvatha/VOIS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hyperlink" Target="https://www.kaggle.com/code/mdejazulhassan/vehicle-dataset-from-cardekho" TargetMode="External"/><Relationship Id="rId4" Type="http://schemas.openxmlformats.org/officeDocument/2006/relationships/hyperlink" Target="https://medium.com/geekculture/data-analysis-on-vehicle-dataset-from-car-dekho-using-python-libraries-fab93fc52d50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012691"/>
            <a:ext cx="448309" cy="2845435"/>
          </a:xfrm>
          <a:custGeom>
            <a:avLst/>
            <a:gdLst/>
            <a:ahLst/>
            <a:cxnLst/>
            <a:rect l="l" t="t" r="r" b="b"/>
            <a:pathLst>
              <a:path w="448309" h="2845434">
                <a:moveTo>
                  <a:pt x="0" y="0"/>
                </a:moveTo>
                <a:lnTo>
                  <a:pt x="0" y="2845307"/>
                </a:lnTo>
                <a:lnTo>
                  <a:pt x="448056" y="2845307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740663" y="1101852"/>
            <a:ext cx="1748155" cy="1341120"/>
            <a:chOff x="740663" y="1101852"/>
            <a:chExt cx="1748155" cy="1341120"/>
          </a:xfrm>
        </p:grpSpPr>
        <p:sp>
          <p:nvSpPr>
            <p:cNvPr id="4" name="object 4"/>
            <p:cNvSpPr/>
            <p:nvPr/>
          </p:nvSpPr>
          <p:spPr>
            <a:xfrm>
              <a:off x="740663" y="1382268"/>
              <a:ext cx="1229995" cy="1061085"/>
            </a:xfrm>
            <a:custGeom>
              <a:avLst/>
              <a:gdLst/>
              <a:ahLst/>
              <a:cxnLst/>
              <a:rect l="l" t="t" r="r" b="b"/>
              <a:pathLst>
                <a:path w="1229995" h="1061085">
                  <a:moveTo>
                    <a:pt x="964692" y="0"/>
                  </a:moveTo>
                  <a:lnTo>
                    <a:pt x="265176" y="0"/>
                  </a:lnTo>
                  <a:lnTo>
                    <a:pt x="0" y="530352"/>
                  </a:lnTo>
                  <a:lnTo>
                    <a:pt x="265176" y="1060704"/>
                  </a:lnTo>
                  <a:lnTo>
                    <a:pt x="964692" y="1060704"/>
                  </a:lnTo>
                  <a:lnTo>
                    <a:pt x="1229868" y="530352"/>
                  </a:lnTo>
                  <a:lnTo>
                    <a:pt x="964692" y="0"/>
                  </a:lnTo>
                  <a:close/>
                </a:path>
              </a:pathLst>
            </a:custGeom>
            <a:solidFill>
              <a:srgbClr val="5FCA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837944" y="1101852"/>
              <a:ext cx="650875" cy="561340"/>
            </a:xfrm>
            <a:custGeom>
              <a:avLst/>
              <a:gdLst/>
              <a:ahLst/>
              <a:cxnLst/>
              <a:rect l="l" t="t" r="r" b="b"/>
              <a:pathLst>
                <a:path w="650875" h="561339">
                  <a:moveTo>
                    <a:pt x="510539" y="0"/>
                  </a:moveTo>
                  <a:lnTo>
                    <a:pt x="140207" y="0"/>
                  </a:lnTo>
                  <a:lnTo>
                    <a:pt x="0" y="280415"/>
                  </a:lnTo>
                  <a:lnTo>
                    <a:pt x="140207" y="560832"/>
                  </a:lnTo>
                  <a:lnTo>
                    <a:pt x="510539" y="560832"/>
                  </a:lnTo>
                  <a:lnTo>
                    <a:pt x="650748" y="280415"/>
                  </a:lnTo>
                  <a:lnTo>
                    <a:pt x="510539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3755135" y="1194816"/>
            <a:ext cx="1666239" cy="1435735"/>
          </a:xfrm>
          <a:custGeom>
            <a:avLst/>
            <a:gdLst/>
            <a:ahLst/>
            <a:cxnLst/>
            <a:rect l="l" t="t" r="r" b="b"/>
            <a:pathLst>
              <a:path w="1666239" h="1435735">
                <a:moveTo>
                  <a:pt x="1306829" y="0"/>
                </a:moveTo>
                <a:lnTo>
                  <a:pt x="358901" y="0"/>
                </a:lnTo>
                <a:lnTo>
                  <a:pt x="0" y="717804"/>
                </a:lnTo>
                <a:lnTo>
                  <a:pt x="358901" y="1435608"/>
                </a:lnTo>
                <a:lnTo>
                  <a:pt x="1306829" y="1435608"/>
                </a:lnTo>
                <a:lnTo>
                  <a:pt x="1665731" y="717804"/>
                </a:lnTo>
                <a:lnTo>
                  <a:pt x="1306829" y="0"/>
                </a:lnTo>
                <a:close/>
              </a:path>
            </a:pathLst>
          </a:custGeom>
          <a:solidFill>
            <a:srgbClr val="42D0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805428" y="5233415"/>
            <a:ext cx="718185" cy="619125"/>
          </a:xfrm>
          <a:custGeom>
            <a:avLst/>
            <a:gdLst/>
            <a:ahLst/>
            <a:cxnLst/>
            <a:rect l="l" t="t" r="r" b="b"/>
            <a:pathLst>
              <a:path w="718185" h="619125">
                <a:moveTo>
                  <a:pt x="563118" y="0"/>
                </a:moveTo>
                <a:lnTo>
                  <a:pt x="154686" y="0"/>
                </a:lnTo>
                <a:lnTo>
                  <a:pt x="0" y="309372"/>
                </a:lnTo>
                <a:lnTo>
                  <a:pt x="154686" y="618744"/>
                </a:lnTo>
                <a:lnTo>
                  <a:pt x="563118" y="618744"/>
                </a:lnTo>
                <a:lnTo>
                  <a:pt x="717804" y="309372"/>
                </a:lnTo>
                <a:lnTo>
                  <a:pt x="563118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531102" y="4166742"/>
            <a:ext cx="3103245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lang="en-US" sz="2400" spc="-85" dirty="0">
                <a:solidFill>
                  <a:srgbClr val="6F2F9F"/>
                </a:solidFill>
                <a:latin typeface="Trebuchet MS"/>
                <a:cs typeface="Trebuchet MS"/>
              </a:rPr>
              <a:t>MANNEM DURGA DARSAN</a:t>
            </a:r>
            <a:endParaRPr sz="2000" dirty="0">
              <a:latin typeface="Trebuchet MS"/>
              <a:cs typeface="Trebuchet MS"/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4722621" y="2073401"/>
            <a:ext cx="5516245" cy="939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360"/>
              </a:lnSpc>
              <a:spcBef>
                <a:spcPts val="95"/>
              </a:spcBef>
            </a:pPr>
            <a:r>
              <a:rPr sz="2800" dirty="0">
                <a:solidFill>
                  <a:srgbClr val="FF0000"/>
                </a:solidFill>
              </a:rPr>
              <a:t>Car</a:t>
            </a:r>
            <a:r>
              <a:rPr sz="2800" spc="-114" dirty="0">
                <a:solidFill>
                  <a:srgbClr val="FF0000"/>
                </a:solidFill>
              </a:rPr>
              <a:t> </a:t>
            </a:r>
            <a:r>
              <a:rPr sz="2800" dirty="0">
                <a:solidFill>
                  <a:srgbClr val="FF0000"/>
                </a:solidFill>
              </a:rPr>
              <a:t>Market</a:t>
            </a:r>
            <a:r>
              <a:rPr sz="2800" spc="-90" dirty="0">
                <a:solidFill>
                  <a:srgbClr val="FF0000"/>
                </a:solidFill>
              </a:rPr>
              <a:t> </a:t>
            </a:r>
            <a:r>
              <a:rPr sz="2800" spc="-60" dirty="0">
                <a:solidFill>
                  <a:srgbClr val="FF0000"/>
                </a:solidFill>
              </a:rPr>
              <a:t>Trends</a:t>
            </a:r>
            <a:r>
              <a:rPr sz="2800" spc="-170" dirty="0">
                <a:solidFill>
                  <a:srgbClr val="FF0000"/>
                </a:solidFill>
              </a:rPr>
              <a:t> </a:t>
            </a:r>
            <a:r>
              <a:rPr sz="2800" spc="-10" dirty="0">
                <a:solidFill>
                  <a:srgbClr val="FF0000"/>
                </a:solidFill>
              </a:rPr>
              <a:t>Analysis</a:t>
            </a:r>
            <a:endParaRPr sz="2800"/>
          </a:p>
          <a:p>
            <a:pPr marL="1841500">
              <a:lnSpc>
                <a:spcPts val="3840"/>
              </a:lnSpc>
            </a:pPr>
            <a:r>
              <a:rPr sz="2800" dirty="0">
                <a:solidFill>
                  <a:srgbClr val="42AF51"/>
                </a:solidFill>
              </a:rPr>
              <a:t>with</a:t>
            </a:r>
            <a:r>
              <a:rPr sz="2800" spc="-45" dirty="0">
                <a:solidFill>
                  <a:srgbClr val="42AF51"/>
                </a:solidFill>
              </a:rPr>
              <a:t> </a:t>
            </a:r>
            <a:r>
              <a:rPr sz="2800" dirty="0">
                <a:solidFill>
                  <a:srgbClr val="42AF51"/>
                </a:solidFill>
              </a:rPr>
              <a:t>Car</a:t>
            </a:r>
            <a:r>
              <a:rPr sz="2800" spc="-55" dirty="0">
                <a:solidFill>
                  <a:srgbClr val="42AF51"/>
                </a:solidFill>
              </a:rPr>
              <a:t> </a:t>
            </a:r>
            <a:r>
              <a:rPr sz="2800" dirty="0">
                <a:solidFill>
                  <a:srgbClr val="42AF51"/>
                </a:solidFill>
              </a:rPr>
              <a:t>Dekho</a:t>
            </a:r>
            <a:r>
              <a:rPr sz="2800" spc="-40" dirty="0">
                <a:solidFill>
                  <a:srgbClr val="42AF51"/>
                </a:solidFill>
              </a:rPr>
              <a:t> </a:t>
            </a:r>
            <a:r>
              <a:rPr sz="2800" dirty="0">
                <a:solidFill>
                  <a:srgbClr val="42AF51"/>
                </a:solidFill>
              </a:rPr>
              <a:t>Data</a:t>
            </a:r>
            <a:r>
              <a:rPr sz="2800" spc="-60" dirty="0">
                <a:solidFill>
                  <a:srgbClr val="42AF51"/>
                </a:solidFill>
              </a:rPr>
              <a:t> </a:t>
            </a:r>
            <a:r>
              <a:rPr sz="3200" b="0" spc="-50" dirty="0">
                <a:solidFill>
                  <a:srgbClr val="42AF51"/>
                </a:solidFill>
                <a:latin typeface="Trebuchet MS"/>
                <a:cs typeface="Trebuchet MS"/>
              </a:rPr>
              <a:t>-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11125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50" dirty="0"/>
              <a:t>1</a:t>
            </a:fld>
            <a:endParaRPr spc="-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012691"/>
            <a:ext cx="448309" cy="2845435"/>
          </a:xfrm>
          <a:custGeom>
            <a:avLst/>
            <a:gdLst/>
            <a:ahLst/>
            <a:cxnLst/>
            <a:rect l="l" t="t" r="r" b="b"/>
            <a:pathLst>
              <a:path w="448309" h="2845434">
                <a:moveTo>
                  <a:pt x="0" y="0"/>
                </a:moveTo>
                <a:lnTo>
                  <a:pt x="0" y="2845307"/>
                </a:lnTo>
                <a:lnTo>
                  <a:pt x="448056" y="2845307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354311" y="536447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693407" y="1699260"/>
            <a:ext cx="318770" cy="320040"/>
          </a:xfrm>
          <a:custGeom>
            <a:avLst/>
            <a:gdLst/>
            <a:ahLst/>
            <a:cxnLst/>
            <a:rect l="l" t="t" r="r" b="b"/>
            <a:pathLst>
              <a:path w="318770" h="320039">
                <a:moveTo>
                  <a:pt x="318516" y="0"/>
                </a:moveTo>
                <a:lnTo>
                  <a:pt x="0" y="0"/>
                </a:lnTo>
                <a:lnTo>
                  <a:pt x="0" y="320039"/>
                </a:lnTo>
                <a:lnTo>
                  <a:pt x="318516" y="320039"/>
                </a:lnTo>
                <a:lnTo>
                  <a:pt x="318516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354311" y="5897879"/>
            <a:ext cx="180340" cy="180340"/>
          </a:xfrm>
          <a:custGeom>
            <a:avLst/>
            <a:gdLst/>
            <a:ahLst/>
            <a:cxnLst/>
            <a:rect l="l" t="t" r="r" b="b"/>
            <a:pathLst>
              <a:path w="180340" h="180339">
                <a:moveTo>
                  <a:pt x="179831" y="0"/>
                </a:moveTo>
                <a:lnTo>
                  <a:pt x="0" y="0"/>
                </a:lnTo>
                <a:lnTo>
                  <a:pt x="0" y="179832"/>
                </a:lnTo>
                <a:lnTo>
                  <a:pt x="179831" y="179832"/>
                </a:lnTo>
                <a:lnTo>
                  <a:pt x="179831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25423" y="1860905"/>
            <a:ext cx="7032625" cy="4115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6670" indent="457200">
              <a:lnSpc>
                <a:spcPct val="130000"/>
              </a:lnSpc>
              <a:spcBef>
                <a:spcPts val="100"/>
              </a:spcBef>
            </a:pP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Analyze</a:t>
            </a:r>
            <a:r>
              <a:rPr sz="20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20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Car</a:t>
            </a:r>
            <a:r>
              <a:rPr sz="20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Dekho</a:t>
            </a:r>
            <a:r>
              <a:rPr sz="20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dataset</a:t>
            </a:r>
            <a:r>
              <a:rPr sz="20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sz="20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identify</a:t>
            </a:r>
            <a:r>
              <a:rPr sz="20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key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trends</a:t>
            </a:r>
            <a:r>
              <a:rPr sz="20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Trebuchet MS"/>
                <a:cs typeface="Trebuchet MS"/>
              </a:rPr>
              <a:t>and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insights</a:t>
            </a:r>
            <a:r>
              <a:rPr sz="20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in</a:t>
            </a:r>
            <a:r>
              <a:rPr sz="20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20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car</a:t>
            </a:r>
            <a:r>
              <a:rPr sz="20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market.</a:t>
            </a:r>
            <a:r>
              <a:rPr sz="2000" spc="-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20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analysis</a:t>
            </a:r>
            <a:r>
              <a:rPr sz="20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should</a:t>
            </a:r>
            <a:r>
              <a:rPr sz="20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focus</a:t>
            </a:r>
            <a:r>
              <a:rPr sz="20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Trebuchet MS"/>
                <a:cs typeface="Trebuchet MS"/>
              </a:rPr>
              <a:t>on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understanding</a:t>
            </a:r>
            <a:r>
              <a:rPr sz="2000" spc="-7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20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factors</a:t>
            </a:r>
            <a:r>
              <a:rPr sz="20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influencing</a:t>
            </a:r>
            <a:r>
              <a:rPr sz="2000" spc="-7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car</a:t>
            </a:r>
            <a:r>
              <a:rPr sz="20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prices,</a:t>
            </a:r>
            <a:r>
              <a:rPr sz="20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identifying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popular</a:t>
            </a:r>
            <a:r>
              <a:rPr sz="20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car</a:t>
            </a:r>
            <a:r>
              <a:rPr sz="20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features,</a:t>
            </a:r>
            <a:r>
              <a:rPr sz="20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sz="20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examining</a:t>
            </a:r>
            <a:r>
              <a:rPr sz="20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market</a:t>
            </a:r>
            <a:r>
              <a:rPr sz="20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dynamics</a:t>
            </a:r>
            <a:r>
              <a:rPr sz="20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Trebuchet MS"/>
                <a:cs typeface="Trebuchet MS"/>
              </a:rPr>
              <a:t>over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time.</a:t>
            </a:r>
            <a:endParaRPr sz="2000">
              <a:latin typeface="Trebuchet MS"/>
              <a:cs typeface="Trebuchet MS"/>
            </a:endParaRPr>
          </a:p>
          <a:p>
            <a:pPr marL="12700" marR="5080" indent="457200">
              <a:lnSpc>
                <a:spcPct val="130000"/>
              </a:lnSpc>
              <a:spcBef>
                <a:spcPts val="994"/>
              </a:spcBef>
            </a:pP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This</a:t>
            </a:r>
            <a:r>
              <a:rPr sz="20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information</a:t>
            </a:r>
            <a:r>
              <a:rPr sz="20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will</a:t>
            </a:r>
            <a:r>
              <a:rPr sz="20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help</a:t>
            </a:r>
            <a:r>
              <a:rPr sz="20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stakeholders,</a:t>
            </a:r>
            <a:r>
              <a:rPr sz="20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including</a:t>
            </a:r>
            <a:r>
              <a:rPr sz="20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buyers,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sellers,</a:t>
            </a:r>
            <a:r>
              <a:rPr sz="20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sz="20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manufacturers,</a:t>
            </a:r>
            <a:r>
              <a:rPr sz="2000" spc="-7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make</a:t>
            </a:r>
            <a:r>
              <a:rPr sz="20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informed</a:t>
            </a:r>
            <a:r>
              <a:rPr sz="2000" spc="-7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decisions.</a:t>
            </a:r>
            <a:r>
              <a:rPr sz="2000" spc="-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Trebuchet MS"/>
                <a:cs typeface="Trebuchet MS"/>
              </a:rPr>
              <a:t>Key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tasks</a:t>
            </a:r>
            <a:r>
              <a:rPr sz="20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include</a:t>
            </a:r>
            <a:r>
              <a:rPr sz="20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data</a:t>
            </a:r>
            <a:r>
              <a:rPr sz="20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cleaning,</a:t>
            </a:r>
            <a:r>
              <a:rPr sz="2000" spc="-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exploratory</a:t>
            </a:r>
            <a:r>
              <a:rPr sz="20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data</a:t>
            </a:r>
            <a:r>
              <a:rPr sz="20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analysis</a:t>
            </a:r>
            <a:r>
              <a:rPr sz="20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(EDA),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data</a:t>
            </a:r>
            <a:r>
              <a:rPr sz="20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visualization,</a:t>
            </a:r>
            <a:r>
              <a:rPr sz="20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sz="20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deriving</a:t>
            </a:r>
            <a:r>
              <a:rPr sz="20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actionable</a:t>
            </a:r>
            <a:r>
              <a:rPr sz="20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insights</a:t>
            </a:r>
            <a:r>
              <a:rPr sz="20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from</a:t>
            </a:r>
            <a:r>
              <a:rPr sz="20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Trebuchet MS"/>
                <a:cs typeface="Trebuchet MS"/>
              </a:rPr>
              <a:t>the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data.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833424" y="568579"/>
            <a:ext cx="5652135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PROBLEM</a:t>
            </a:r>
            <a:r>
              <a:rPr spc="-105" dirty="0"/>
              <a:t>  </a:t>
            </a:r>
            <a:r>
              <a:rPr spc="-70" dirty="0"/>
              <a:t>STATEMENT</a:t>
            </a: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96428" y="2930651"/>
            <a:ext cx="2759964" cy="326440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655" y="6472428"/>
            <a:ext cx="2142744" cy="192011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11125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7420165" y="-4762"/>
            <a:ext cx="4773295" cy="6868159"/>
            <a:chOff x="7420165" y="-4762"/>
            <a:chExt cx="4773295" cy="6868159"/>
          </a:xfrm>
        </p:grpSpPr>
        <p:sp>
          <p:nvSpPr>
            <p:cNvPr id="4" name="object 4"/>
            <p:cNvSpPr/>
            <p:nvPr/>
          </p:nvSpPr>
          <p:spPr>
            <a:xfrm>
              <a:off x="7424928" y="0"/>
              <a:ext cx="4763770" cy="6858634"/>
            </a:xfrm>
            <a:custGeom>
              <a:avLst/>
              <a:gdLst/>
              <a:ahLst/>
              <a:cxnLst/>
              <a:rect l="l" t="t" r="r" b="b"/>
              <a:pathLst>
                <a:path w="4763770" h="6858634">
                  <a:moveTo>
                    <a:pt x="1946148" y="0"/>
                  </a:moveTo>
                  <a:lnTo>
                    <a:pt x="3165348" y="6857999"/>
                  </a:lnTo>
                </a:path>
                <a:path w="4763770" h="6858634">
                  <a:moveTo>
                    <a:pt x="4763516" y="3681983"/>
                  </a:moveTo>
                  <a:lnTo>
                    <a:pt x="0" y="6858570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82100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>
                  <a:moveTo>
                    <a:pt x="3006852" y="0"/>
                  </a:moveTo>
                  <a:lnTo>
                    <a:pt x="2042484" y="0"/>
                  </a:lnTo>
                  <a:lnTo>
                    <a:pt x="0" y="6858000"/>
                  </a:lnTo>
                  <a:lnTo>
                    <a:pt x="3006852" y="6858000"/>
                  </a:lnTo>
                  <a:lnTo>
                    <a:pt x="3006852" y="0"/>
                  </a:lnTo>
                  <a:close/>
                </a:path>
              </a:pathLst>
            </a:custGeom>
            <a:solidFill>
              <a:srgbClr val="5FCAEE">
                <a:alpha val="3607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>
                  <a:moveTo>
                    <a:pt x="2587665" y="0"/>
                  </a:moveTo>
                  <a:lnTo>
                    <a:pt x="0" y="0"/>
                  </a:lnTo>
                  <a:lnTo>
                    <a:pt x="1208191" y="6857999"/>
                  </a:lnTo>
                  <a:lnTo>
                    <a:pt x="2587665" y="6857999"/>
                  </a:lnTo>
                  <a:lnTo>
                    <a:pt x="2587665" y="0"/>
                  </a:lnTo>
                  <a:close/>
                </a:path>
              </a:pathLst>
            </a:custGeom>
            <a:solidFill>
              <a:srgbClr val="5FCAEE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>
                  <a:moveTo>
                    <a:pt x="2851161" y="0"/>
                  </a:moveTo>
                  <a:lnTo>
                    <a:pt x="0" y="0"/>
                  </a:lnTo>
                  <a:lnTo>
                    <a:pt x="2467621" y="6858000"/>
                  </a:lnTo>
                  <a:lnTo>
                    <a:pt x="2851161" y="6858000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17AFE3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>
                  <a:moveTo>
                    <a:pt x="1290828" y="0"/>
                  </a:moveTo>
                  <a:lnTo>
                    <a:pt x="1018959" y="0"/>
                  </a:lnTo>
                  <a:lnTo>
                    <a:pt x="0" y="6858000"/>
                  </a:lnTo>
                  <a:lnTo>
                    <a:pt x="1290828" y="6858000"/>
                  </a:lnTo>
                  <a:lnTo>
                    <a:pt x="1290828" y="0"/>
                  </a:lnTo>
                  <a:close/>
                </a:path>
              </a:pathLst>
            </a:custGeom>
            <a:solidFill>
              <a:srgbClr val="2D83C3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>
                  <a:moveTo>
                    <a:pt x="1248203" y="0"/>
                  </a:moveTo>
                  <a:lnTo>
                    <a:pt x="0" y="0"/>
                  </a:lnTo>
                  <a:lnTo>
                    <a:pt x="1107741" y="6858000"/>
                  </a:lnTo>
                  <a:lnTo>
                    <a:pt x="1248203" y="6858000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226192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372344" y="3590544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/>
          <p:nvPr/>
        </p:nvSpPr>
        <p:spPr>
          <a:xfrm>
            <a:off x="0" y="4012691"/>
            <a:ext cx="448309" cy="2845435"/>
          </a:xfrm>
          <a:custGeom>
            <a:avLst/>
            <a:gdLst/>
            <a:ahLst/>
            <a:cxnLst/>
            <a:rect l="l" t="t" r="r" b="b"/>
            <a:pathLst>
              <a:path w="448309" h="2845434">
                <a:moveTo>
                  <a:pt x="0" y="0"/>
                </a:moveTo>
                <a:lnTo>
                  <a:pt x="0" y="2845307"/>
                </a:lnTo>
                <a:lnTo>
                  <a:pt x="448056" y="2845307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51941" y="6482814"/>
            <a:ext cx="1752600" cy="163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55"/>
              </a:lnSpc>
            </a:pPr>
            <a:r>
              <a:rPr sz="1100" dirty="0">
                <a:solidFill>
                  <a:srgbClr val="2D83C3"/>
                </a:solidFill>
                <a:latin typeface="Trebuchet MS"/>
                <a:cs typeface="Trebuchet MS"/>
              </a:rPr>
              <a:t>7/13/2024</a:t>
            </a:r>
            <a:r>
              <a:rPr sz="1100" spc="140" dirty="0">
                <a:solidFill>
                  <a:srgbClr val="2D83C3"/>
                </a:solidFill>
                <a:latin typeface="Trebuchet MS"/>
                <a:cs typeface="Trebuchet MS"/>
              </a:rPr>
              <a:t>  </a:t>
            </a:r>
            <a:r>
              <a:rPr sz="1100" b="1" dirty="0">
                <a:solidFill>
                  <a:srgbClr val="2D83C3"/>
                </a:solidFill>
                <a:latin typeface="Trebuchet MS"/>
                <a:cs typeface="Trebuchet MS"/>
              </a:rPr>
              <a:t>Annual </a:t>
            </a:r>
            <a:r>
              <a:rPr sz="1100" b="1" spc="-10" dirty="0">
                <a:solidFill>
                  <a:srgbClr val="2D83C3"/>
                </a:solidFill>
                <a:latin typeface="Trebuchet MS"/>
                <a:cs typeface="Trebuchet MS"/>
              </a:rPr>
              <a:t>Review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371326" y="6461556"/>
            <a:ext cx="9906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50" dirty="0">
                <a:solidFill>
                  <a:srgbClr val="2D936B"/>
                </a:solidFill>
                <a:latin typeface="Trebuchet MS"/>
                <a:cs typeface="Trebuchet MS"/>
              </a:rPr>
              <a:t>3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354311" y="536447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693407" y="1699260"/>
            <a:ext cx="318770" cy="320040"/>
          </a:xfrm>
          <a:custGeom>
            <a:avLst/>
            <a:gdLst/>
            <a:ahLst/>
            <a:cxnLst/>
            <a:rect l="l" t="t" r="r" b="b"/>
            <a:pathLst>
              <a:path w="318770" h="320039">
                <a:moveTo>
                  <a:pt x="318516" y="0"/>
                </a:moveTo>
                <a:lnTo>
                  <a:pt x="0" y="0"/>
                </a:lnTo>
                <a:lnTo>
                  <a:pt x="0" y="320039"/>
                </a:lnTo>
                <a:lnTo>
                  <a:pt x="318516" y="320039"/>
                </a:lnTo>
                <a:lnTo>
                  <a:pt x="318516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9354311" y="5897879"/>
            <a:ext cx="180340" cy="180340"/>
          </a:xfrm>
          <a:custGeom>
            <a:avLst/>
            <a:gdLst/>
            <a:ahLst/>
            <a:cxnLst/>
            <a:rect l="l" t="t" r="r" b="b"/>
            <a:pathLst>
              <a:path w="180340" h="180339">
                <a:moveTo>
                  <a:pt x="179831" y="0"/>
                </a:moveTo>
                <a:lnTo>
                  <a:pt x="0" y="0"/>
                </a:lnTo>
                <a:lnTo>
                  <a:pt x="0" y="179832"/>
                </a:lnTo>
                <a:lnTo>
                  <a:pt x="179831" y="179832"/>
                </a:lnTo>
                <a:lnTo>
                  <a:pt x="179831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 descr="$PPTXTitle"/>
          <p:cNvSpPr txBox="1">
            <a:spLocks noGrp="1"/>
          </p:cNvSpPr>
          <p:nvPr>
            <p:ph type="title"/>
          </p:nvPr>
        </p:nvSpPr>
        <p:spPr>
          <a:xfrm>
            <a:off x="739241" y="820292"/>
            <a:ext cx="553783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Project</a:t>
            </a:r>
            <a:r>
              <a:rPr sz="4800" spc="-45" dirty="0"/>
              <a:t> </a:t>
            </a:r>
            <a:r>
              <a:rPr sz="4800" spc="-10" dirty="0"/>
              <a:t>Description</a:t>
            </a:r>
            <a:endParaRPr sz="4800"/>
          </a:p>
        </p:txBody>
      </p:sp>
      <p:grpSp>
        <p:nvGrpSpPr>
          <p:cNvPr id="19" name="object 19"/>
          <p:cNvGrpSpPr/>
          <p:nvPr/>
        </p:nvGrpSpPr>
        <p:grpSpPr>
          <a:xfrm>
            <a:off x="467868" y="6409944"/>
            <a:ext cx="3706495" cy="297180"/>
            <a:chOff x="467868" y="6409944"/>
            <a:chExt cx="3706495" cy="297180"/>
          </a:xfrm>
        </p:grpSpPr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6656" y="6472428"/>
              <a:ext cx="2142744" cy="192011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7868" y="6409944"/>
              <a:ext cx="3706367" cy="297180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443890" y="2268727"/>
            <a:ext cx="8673465" cy="3013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4572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Trebuchet MS"/>
                <a:cs typeface="Trebuchet MS"/>
              </a:rPr>
              <a:t>The</a:t>
            </a:r>
            <a:r>
              <a:rPr sz="1400" spc="-4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automotive</a:t>
            </a:r>
            <a:r>
              <a:rPr sz="1400" spc="-4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industry</a:t>
            </a:r>
            <a:r>
              <a:rPr sz="1400" spc="-3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is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rapidly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evolving,</a:t>
            </a:r>
            <a:r>
              <a:rPr sz="1400" spc="-5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influenced</a:t>
            </a:r>
            <a:r>
              <a:rPr sz="1400" spc="-4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by</a:t>
            </a:r>
            <a:r>
              <a:rPr sz="1400" spc="-6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shifting</a:t>
            </a:r>
            <a:r>
              <a:rPr sz="1400" spc="-4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consumer</a:t>
            </a:r>
            <a:r>
              <a:rPr sz="1400" spc="-55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preferences,</a:t>
            </a:r>
            <a:r>
              <a:rPr sz="1400" spc="50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technological</a:t>
            </a:r>
            <a:r>
              <a:rPr sz="1400" spc="-5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advancements,</a:t>
            </a:r>
            <a:r>
              <a:rPr sz="1400" spc="-4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and</a:t>
            </a:r>
            <a:r>
              <a:rPr sz="1400" spc="-2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economic</a:t>
            </a:r>
            <a:r>
              <a:rPr sz="1400" spc="-4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factors.</a:t>
            </a:r>
            <a:r>
              <a:rPr sz="1400" spc="-6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This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project</a:t>
            </a:r>
            <a:r>
              <a:rPr sz="1400" spc="-4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focuses</a:t>
            </a:r>
            <a:r>
              <a:rPr sz="1400" spc="-6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on</a:t>
            </a:r>
            <a:r>
              <a:rPr sz="1400" spc="-2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analyzing</a:t>
            </a:r>
            <a:r>
              <a:rPr sz="1400" spc="-4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the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Car</a:t>
            </a:r>
            <a:r>
              <a:rPr sz="1400" spc="-5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Dekho</a:t>
            </a:r>
            <a:r>
              <a:rPr sz="1400" spc="50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dataset,</a:t>
            </a:r>
            <a:r>
              <a:rPr sz="1400" spc="-4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which</a:t>
            </a:r>
            <a:r>
              <a:rPr sz="1400" spc="-5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encompasses</a:t>
            </a:r>
            <a:r>
              <a:rPr sz="1400" spc="-6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detailed</a:t>
            </a:r>
            <a:r>
              <a:rPr sz="1400" spc="-6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information</a:t>
            </a:r>
            <a:r>
              <a:rPr sz="1400" spc="-3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about</a:t>
            </a:r>
            <a:r>
              <a:rPr sz="1400" spc="-4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various</a:t>
            </a:r>
            <a:r>
              <a:rPr sz="1400" spc="-3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car</a:t>
            </a:r>
            <a:r>
              <a:rPr sz="1400" spc="-3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models,</a:t>
            </a:r>
            <a:r>
              <a:rPr sz="1400" spc="-6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their</a:t>
            </a:r>
            <a:r>
              <a:rPr sz="1400" spc="-4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specifications,</a:t>
            </a:r>
            <a:r>
              <a:rPr sz="1400" spc="-6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prices,</a:t>
            </a:r>
            <a:r>
              <a:rPr sz="1400" spc="-45" dirty="0">
                <a:latin typeface="Trebuchet MS"/>
                <a:cs typeface="Trebuchet MS"/>
              </a:rPr>
              <a:t> </a:t>
            </a:r>
            <a:r>
              <a:rPr sz="1400" spc="-25" dirty="0">
                <a:latin typeface="Trebuchet MS"/>
                <a:cs typeface="Trebuchet MS"/>
              </a:rPr>
              <a:t>and </a:t>
            </a:r>
            <a:r>
              <a:rPr sz="1400" dirty="0">
                <a:latin typeface="Trebuchet MS"/>
                <a:cs typeface="Trebuchet MS"/>
              </a:rPr>
              <a:t>other</a:t>
            </a:r>
            <a:r>
              <a:rPr sz="1400" spc="-3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relevant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attributes.</a:t>
            </a:r>
            <a:r>
              <a:rPr sz="1400" spc="-2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By</a:t>
            </a:r>
            <a:r>
              <a:rPr sz="1400" spc="-1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examining</a:t>
            </a:r>
            <a:r>
              <a:rPr sz="1400" spc="-4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this</a:t>
            </a:r>
            <a:r>
              <a:rPr sz="1400" spc="-2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dataset,</a:t>
            </a:r>
            <a:r>
              <a:rPr sz="1400" spc="-2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we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aim</a:t>
            </a:r>
            <a:r>
              <a:rPr sz="1400" spc="-1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to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extract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meaningful</a:t>
            </a:r>
            <a:r>
              <a:rPr sz="1400" spc="-4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insights</a:t>
            </a:r>
            <a:r>
              <a:rPr sz="1400" spc="-4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that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can</a:t>
            </a:r>
            <a:r>
              <a:rPr sz="1400" spc="-40" dirty="0">
                <a:latin typeface="Trebuchet MS"/>
                <a:cs typeface="Trebuchet MS"/>
              </a:rPr>
              <a:t> </a:t>
            </a:r>
            <a:r>
              <a:rPr sz="1400" spc="-20" dirty="0">
                <a:latin typeface="Trebuchet MS"/>
                <a:cs typeface="Trebuchet MS"/>
              </a:rPr>
              <a:t>help </a:t>
            </a:r>
            <a:r>
              <a:rPr sz="1400" dirty="0">
                <a:latin typeface="Trebuchet MS"/>
                <a:cs typeface="Trebuchet MS"/>
              </a:rPr>
              <a:t>stakeholders,</a:t>
            </a:r>
            <a:r>
              <a:rPr sz="1400" spc="-6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including</a:t>
            </a:r>
            <a:r>
              <a:rPr sz="1400" spc="-5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manufacturers,</a:t>
            </a:r>
            <a:r>
              <a:rPr sz="1400" spc="-4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dealers,</a:t>
            </a:r>
            <a:r>
              <a:rPr sz="1400" spc="-3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and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consumers,</a:t>
            </a:r>
            <a:r>
              <a:rPr sz="1400" spc="-5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understand</a:t>
            </a:r>
            <a:r>
              <a:rPr sz="1400" spc="-5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the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current</a:t>
            </a:r>
            <a:r>
              <a:rPr sz="1400" spc="-4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trends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spc="-25" dirty="0">
                <a:latin typeface="Trebuchet MS"/>
                <a:cs typeface="Trebuchet MS"/>
              </a:rPr>
              <a:t>and</a:t>
            </a:r>
            <a:r>
              <a:rPr sz="1400" spc="50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dynamics</a:t>
            </a:r>
            <a:r>
              <a:rPr sz="1400" spc="-3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in</a:t>
            </a:r>
            <a:r>
              <a:rPr sz="1400" spc="-2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the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car</a:t>
            </a:r>
            <a:r>
              <a:rPr sz="1400" spc="-15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market.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400">
              <a:latin typeface="Trebuchet MS"/>
              <a:cs typeface="Trebuchet MS"/>
            </a:endParaRPr>
          </a:p>
          <a:p>
            <a:pPr marL="12700" marR="298450" indent="457200">
              <a:lnSpc>
                <a:spcPct val="100000"/>
              </a:lnSpc>
            </a:pPr>
            <a:r>
              <a:rPr sz="1400" dirty="0">
                <a:latin typeface="Trebuchet MS"/>
                <a:cs typeface="Trebuchet MS"/>
              </a:rPr>
              <a:t>The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analysis</a:t>
            </a:r>
            <a:r>
              <a:rPr sz="1400" spc="-3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begins</a:t>
            </a:r>
            <a:r>
              <a:rPr sz="1400" spc="-5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with</a:t>
            </a:r>
            <a:r>
              <a:rPr sz="1400" spc="-3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data</a:t>
            </a:r>
            <a:r>
              <a:rPr sz="1400" spc="-2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cleaning</a:t>
            </a:r>
            <a:r>
              <a:rPr sz="1400" spc="-4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and</a:t>
            </a:r>
            <a:r>
              <a:rPr sz="1400" spc="-2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preprocessing</a:t>
            </a:r>
            <a:r>
              <a:rPr sz="1400" spc="-5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to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ensure</a:t>
            </a:r>
            <a:r>
              <a:rPr sz="1400" spc="-2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the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dataset</a:t>
            </a:r>
            <a:r>
              <a:rPr sz="1400" spc="-1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is</a:t>
            </a:r>
            <a:r>
              <a:rPr sz="1400" spc="-1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accurate</a:t>
            </a:r>
            <a:r>
              <a:rPr sz="1400" spc="-40" dirty="0">
                <a:latin typeface="Trebuchet MS"/>
                <a:cs typeface="Trebuchet MS"/>
              </a:rPr>
              <a:t> </a:t>
            </a:r>
            <a:r>
              <a:rPr sz="1400" spc="-25" dirty="0">
                <a:latin typeface="Trebuchet MS"/>
                <a:cs typeface="Trebuchet MS"/>
              </a:rPr>
              <a:t>and </a:t>
            </a:r>
            <a:r>
              <a:rPr sz="1400" spc="-10" dirty="0">
                <a:latin typeface="Trebuchet MS"/>
                <a:cs typeface="Trebuchet MS"/>
              </a:rPr>
              <a:t>consistent.</a:t>
            </a:r>
            <a:r>
              <a:rPr sz="1400" spc="-8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This</a:t>
            </a:r>
            <a:r>
              <a:rPr sz="1400" spc="-2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involves</a:t>
            </a:r>
            <a:r>
              <a:rPr sz="1400" spc="-3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handling</a:t>
            </a:r>
            <a:r>
              <a:rPr sz="1400" spc="-4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missing</a:t>
            </a:r>
            <a:r>
              <a:rPr sz="1400" spc="-1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values,</a:t>
            </a:r>
            <a:r>
              <a:rPr sz="1400" spc="-3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correcting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data</a:t>
            </a:r>
            <a:r>
              <a:rPr sz="1400" spc="-1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types,</a:t>
            </a:r>
            <a:r>
              <a:rPr sz="1400" spc="-4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and</a:t>
            </a:r>
            <a:r>
              <a:rPr sz="1400" spc="-1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removing</a:t>
            </a:r>
            <a:r>
              <a:rPr sz="1400" spc="-1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any</a:t>
            </a:r>
            <a:r>
              <a:rPr sz="1400" spc="-20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duplicates. </a:t>
            </a:r>
            <a:r>
              <a:rPr sz="1400" dirty="0">
                <a:latin typeface="Trebuchet MS"/>
                <a:cs typeface="Trebuchet MS"/>
              </a:rPr>
              <a:t>Following</a:t>
            </a:r>
            <a:r>
              <a:rPr sz="1400" spc="-6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this,</a:t>
            </a:r>
            <a:r>
              <a:rPr sz="1400" spc="-2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exploratory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data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analysis</a:t>
            </a:r>
            <a:r>
              <a:rPr sz="1400" spc="-3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(EDA)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will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be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conducted</a:t>
            </a:r>
            <a:r>
              <a:rPr sz="1400" spc="-6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to</a:t>
            </a:r>
            <a:r>
              <a:rPr sz="1400" spc="-2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uncover</a:t>
            </a:r>
            <a:r>
              <a:rPr sz="1400" spc="-4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patterns</a:t>
            </a:r>
            <a:r>
              <a:rPr sz="1400" spc="-3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and</a:t>
            </a:r>
            <a:r>
              <a:rPr sz="1400" spc="-20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relationships </a:t>
            </a:r>
            <a:r>
              <a:rPr sz="1400" dirty="0">
                <a:latin typeface="Trebuchet MS"/>
                <a:cs typeface="Trebuchet MS"/>
              </a:rPr>
              <a:t>within</a:t>
            </a:r>
            <a:r>
              <a:rPr sz="1400" spc="-4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the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data.</a:t>
            </a:r>
            <a:r>
              <a:rPr sz="1400" spc="-2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Key</a:t>
            </a:r>
            <a:r>
              <a:rPr sz="1400" spc="-2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features</a:t>
            </a:r>
            <a:r>
              <a:rPr sz="1400" spc="-4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such</a:t>
            </a:r>
            <a:r>
              <a:rPr sz="1400" spc="-4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as</a:t>
            </a:r>
            <a:r>
              <a:rPr sz="1400" spc="-1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brand,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spc="-30" dirty="0">
                <a:latin typeface="Trebuchet MS"/>
                <a:cs typeface="Trebuchet MS"/>
              </a:rPr>
              <a:t>year,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mileage,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and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fuel</a:t>
            </a:r>
            <a:r>
              <a:rPr sz="1400" spc="-3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type</a:t>
            </a:r>
            <a:r>
              <a:rPr sz="1400" spc="-5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will</a:t>
            </a:r>
            <a:r>
              <a:rPr sz="1400" spc="-3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be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examined</a:t>
            </a:r>
            <a:r>
              <a:rPr sz="1400" spc="-5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to</a:t>
            </a:r>
            <a:r>
              <a:rPr sz="1400" spc="-30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determine </a:t>
            </a:r>
            <a:r>
              <a:rPr sz="1400" dirty="0">
                <a:latin typeface="Trebuchet MS"/>
                <a:cs typeface="Trebuchet MS"/>
              </a:rPr>
              <a:t>their</a:t>
            </a:r>
            <a:r>
              <a:rPr sz="1400" spc="-2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impact</a:t>
            </a:r>
            <a:r>
              <a:rPr sz="1400" spc="-1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on</a:t>
            </a:r>
            <a:r>
              <a:rPr sz="1400" spc="-1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car</a:t>
            </a:r>
            <a:r>
              <a:rPr sz="1400" spc="-15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prices.</a:t>
            </a:r>
            <a:r>
              <a:rPr sz="1400" spc="-95" dirty="0">
                <a:latin typeface="Trebuchet MS"/>
                <a:cs typeface="Trebuchet MS"/>
              </a:rPr>
              <a:t> </a:t>
            </a:r>
            <a:r>
              <a:rPr sz="1400" spc="-20" dirty="0">
                <a:latin typeface="Trebuchet MS"/>
                <a:cs typeface="Trebuchet MS"/>
              </a:rPr>
              <a:t>Additionally, </a:t>
            </a:r>
            <a:r>
              <a:rPr sz="1400" dirty="0">
                <a:latin typeface="Trebuchet MS"/>
                <a:cs typeface="Trebuchet MS"/>
              </a:rPr>
              <a:t>the</a:t>
            </a:r>
            <a:r>
              <a:rPr sz="1400" spc="-4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project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will</a:t>
            </a:r>
            <a:r>
              <a:rPr sz="1400" spc="-2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analyze</a:t>
            </a:r>
            <a:r>
              <a:rPr sz="1400" spc="-3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market</a:t>
            </a:r>
            <a:r>
              <a:rPr sz="1400" spc="-1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trends</a:t>
            </a:r>
            <a:r>
              <a:rPr sz="1400" spc="-1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over</a:t>
            </a:r>
            <a:r>
              <a:rPr sz="1400" spc="-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time,</a:t>
            </a:r>
            <a:r>
              <a:rPr sz="1400" spc="-20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identifying </a:t>
            </a:r>
            <a:r>
              <a:rPr sz="1400" dirty="0">
                <a:latin typeface="Trebuchet MS"/>
                <a:cs typeface="Trebuchet MS"/>
              </a:rPr>
              <a:t>popular</a:t>
            </a:r>
            <a:r>
              <a:rPr sz="1400" spc="-4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car</a:t>
            </a:r>
            <a:r>
              <a:rPr sz="1400" spc="-2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models</a:t>
            </a:r>
            <a:r>
              <a:rPr sz="1400" spc="-4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and</a:t>
            </a:r>
            <a:r>
              <a:rPr sz="1400" spc="-1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features,</a:t>
            </a:r>
            <a:r>
              <a:rPr sz="1400" spc="-1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and</a:t>
            </a:r>
            <a:r>
              <a:rPr sz="1400" spc="-2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studying</a:t>
            </a:r>
            <a:r>
              <a:rPr sz="1400" spc="-4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depreciation</a:t>
            </a:r>
            <a:r>
              <a:rPr sz="1400" spc="-4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trends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to</a:t>
            </a:r>
            <a:r>
              <a:rPr sz="1400" spc="-1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understand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how</a:t>
            </a:r>
            <a:r>
              <a:rPr sz="1400" spc="-3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car</a:t>
            </a:r>
            <a:r>
              <a:rPr sz="1400" spc="-2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values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change </a:t>
            </a:r>
            <a:r>
              <a:rPr sz="1400" dirty="0">
                <a:latin typeface="Trebuchet MS"/>
                <a:cs typeface="Trebuchet MS"/>
              </a:rPr>
              <a:t>with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age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and</a:t>
            </a:r>
            <a:r>
              <a:rPr sz="1400" spc="-15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usage.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43890" y="5469737"/>
            <a:ext cx="8675370" cy="1093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572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rebuchet MS"/>
                <a:cs typeface="Trebuchet MS"/>
              </a:rPr>
              <a:t>The</a:t>
            </a:r>
            <a:r>
              <a:rPr sz="1400" spc="-4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insights</a:t>
            </a:r>
            <a:r>
              <a:rPr sz="1400" spc="-5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derived</a:t>
            </a:r>
            <a:r>
              <a:rPr sz="1400" spc="-2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from</a:t>
            </a:r>
            <a:r>
              <a:rPr sz="1400" spc="-2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this</a:t>
            </a:r>
            <a:r>
              <a:rPr sz="1400" spc="-3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analysis</a:t>
            </a:r>
            <a:r>
              <a:rPr sz="1400" spc="-4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will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be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presented</a:t>
            </a:r>
            <a:r>
              <a:rPr sz="1400" spc="-5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using</a:t>
            </a:r>
            <a:r>
              <a:rPr sz="1400" spc="-4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various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visualization</a:t>
            </a:r>
            <a:r>
              <a:rPr sz="1400" spc="-20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techniques,</a:t>
            </a:r>
            <a:r>
              <a:rPr sz="1400" spc="500" dirty="0">
                <a:latin typeface="Trebuchet MS"/>
                <a:cs typeface="Trebuchet MS"/>
              </a:rPr>
              <a:t>  </a:t>
            </a:r>
            <a:r>
              <a:rPr sz="1400" dirty="0">
                <a:latin typeface="Trebuchet MS"/>
                <a:cs typeface="Trebuchet MS"/>
              </a:rPr>
              <a:t>making</a:t>
            </a:r>
            <a:r>
              <a:rPr sz="1400" spc="-3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it</a:t>
            </a:r>
            <a:r>
              <a:rPr sz="1400" spc="-1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easier</a:t>
            </a:r>
            <a:r>
              <a:rPr sz="1400" spc="-1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to</a:t>
            </a:r>
            <a:r>
              <a:rPr sz="1400" spc="-2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communicate</a:t>
            </a:r>
            <a:r>
              <a:rPr sz="1400" spc="-5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the</a:t>
            </a:r>
            <a:r>
              <a:rPr sz="1400" spc="-3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findings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spc="-20" dirty="0">
                <a:latin typeface="Trebuchet MS"/>
                <a:cs typeface="Trebuchet MS"/>
              </a:rPr>
              <a:t>effectively.</a:t>
            </a:r>
            <a:r>
              <a:rPr sz="1400" spc="-7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The</a:t>
            </a:r>
            <a:r>
              <a:rPr sz="1400" spc="-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final</a:t>
            </a:r>
            <a:r>
              <a:rPr sz="1400" spc="-3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outcome</a:t>
            </a:r>
            <a:r>
              <a:rPr sz="1400" spc="-3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of</a:t>
            </a:r>
            <a:r>
              <a:rPr sz="1400" spc="-1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this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project</a:t>
            </a:r>
            <a:r>
              <a:rPr sz="1400" spc="-4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will</a:t>
            </a:r>
            <a:r>
              <a:rPr sz="1400" spc="-20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include </a:t>
            </a:r>
            <a:r>
              <a:rPr sz="1400" dirty="0">
                <a:latin typeface="Trebuchet MS"/>
                <a:cs typeface="Trebuchet MS"/>
              </a:rPr>
              <a:t>actionable</a:t>
            </a:r>
            <a:r>
              <a:rPr sz="1400" spc="-4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recommendations</a:t>
            </a:r>
            <a:r>
              <a:rPr sz="1400" spc="-4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for</a:t>
            </a:r>
            <a:r>
              <a:rPr sz="1400" spc="-2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stakeholders,</a:t>
            </a:r>
            <a:r>
              <a:rPr sz="1400" spc="-4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such</a:t>
            </a:r>
            <a:r>
              <a:rPr sz="1400" spc="-5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as</a:t>
            </a:r>
            <a:r>
              <a:rPr sz="1400" spc="-1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identifying</a:t>
            </a:r>
            <a:r>
              <a:rPr sz="1400" spc="-4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the</a:t>
            </a:r>
            <a:r>
              <a:rPr sz="1400" spc="-3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best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time</a:t>
            </a:r>
            <a:r>
              <a:rPr sz="1400" spc="-2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to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buy</a:t>
            </a:r>
            <a:r>
              <a:rPr sz="1400" spc="-3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or</a:t>
            </a:r>
            <a:r>
              <a:rPr sz="1400" spc="-1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sell</a:t>
            </a:r>
            <a:r>
              <a:rPr sz="1400" spc="-4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a</a:t>
            </a:r>
            <a:r>
              <a:rPr sz="1400" spc="-20" dirty="0">
                <a:latin typeface="Trebuchet MS"/>
                <a:cs typeface="Trebuchet MS"/>
              </a:rPr>
              <a:t> car, </a:t>
            </a:r>
            <a:r>
              <a:rPr sz="1400" dirty="0">
                <a:latin typeface="Trebuchet MS"/>
                <a:cs typeface="Trebuchet MS"/>
              </a:rPr>
              <a:t>understanding</a:t>
            </a:r>
            <a:r>
              <a:rPr sz="1400" spc="-5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which</a:t>
            </a:r>
            <a:r>
              <a:rPr sz="1400" spc="-4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features</a:t>
            </a:r>
            <a:r>
              <a:rPr sz="1400" spc="-4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add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the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most</a:t>
            </a:r>
            <a:r>
              <a:rPr sz="1400" spc="-4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value,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and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anticipating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future</a:t>
            </a:r>
            <a:r>
              <a:rPr sz="1400" spc="-4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market</a:t>
            </a:r>
            <a:r>
              <a:rPr sz="1400" spc="-2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trends.</a:t>
            </a:r>
            <a:r>
              <a:rPr sz="1400" spc="-6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These</a:t>
            </a:r>
            <a:r>
              <a:rPr sz="1400" spc="-5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insights</a:t>
            </a:r>
            <a:r>
              <a:rPr sz="1400" spc="-45" dirty="0">
                <a:latin typeface="Trebuchet MS"/>
                <a:cs typeface="Trebuchet MS"/>
              </a:rPr>
              <a:t> </a:t>
            </a:r>
            <a:r>
              <a:rPr sz="1400" spc="-20" dirty="0">
                <a:latin typeface="Trebuchet MS"/>
                <a:cs typeface="Trebuchet MS"/>
              </a:rPr>
              <a:t>will </a:t>
            </a:r>
            <a:r>
              <a:rPr sz="1400" dirty="0">
                <a:latin typeface="Trebuchet MS"/>
                <a:cs typeface="Trebuchet MS"/>
              </a:rPr>
              <a:t>enable</a:t>
            </a:r>
            <a:r>
              <a:rPr sz="1400" spc="-5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better</a:t>
            </a:r>
            <a:r>
              <a:rPr sz="1400" spc="-30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decision-</a:t>
            </a:r>
            <a:r>
              <a:rPr sz="1400" dirty="0">
                <a:latin typeface="Trebuchet MS"/>
                <a:cs typeface="Trebuchet MS"/>
              </a:rPr>
              <a:t>making,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ultimately</a:t>
            </a:r>
            <a:r>
              <a:rPr sz="1400" spc="-3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benefiting</a:t>
            </a:r>
            <a:r>
              <a:rPr sz="1400" spc="-7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all</a:t>
            </a:r>
            <a:r>
              <a:rPr sz="1400" spc="-2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parties</a:t>
            </a:r>
            <a:r>
              <a:rPr sz="1400" spc="-2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involved</a:t>
            </a:r>
            <a:r>
              <a:rPr sz="1400" spc="-4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in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the</a:t>
            </a:r>
            <a:r>
              <a:rPr sz="1400" spc="-4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automotive</a:t>
            </a:r>
            <a:r>
              <a:rPr sz="1400" spc="-40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industry.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012691"/>
            <a:ext cx="448309" cy="2845435"/>
          </a:xfrm>
          <a:custGeom>
            <a:avLst/>
            <a:gdLst/>
            <a:ahLst/>
            <a:cxnLst/>
            <a:rect l="l" t="t" r="r" b="b"/>
            <a:pathLst>
              <a:path w="448309" h="2845434">
                <a:moveTo>
                  <a:pt x="0" y="0"/>
                </a:moveTo>
                <a:lnTo>
                  <a:pt x="0" y="2845307"/>
                </a:lnTo>
                <a:lnTo>
                  <a:pt x="448056" y="2845307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1941" y="6482814"/>
            <a:ext cx="1752600" cy="163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55"/>
              </a:lnSpc>
            </a:pPr>
            <a:r>
              <a:rPr sz="1100" dirty="0">
                <a:solidFill>
                  <a:srgbClr val="2D83C3"/>
                </a:solidFill>
                <a:latin typeface="Trebuchet MS"/>
                <a:cs typeface="Trebuchet MS"/>
              </a:rPr>
              <a:t>7/13/2024</a:t>
            </a:r>
            <a:r>
              <a:rPr sz="1100" spc="140" dirty="0">
                <a:solidFill>
                  <a:srgbClr val="2D83C3"/>
                </a:solidFill>
                <a:latin typeface="Trebuchet MS"/>
                <a:cs typeface="Trebuchet MS"/>
              </a:rPr>
              <a:t>  </a:t>
            </a:r>
            <a:r>
              <a:rPr sz="1100" b="1" dirty="0">
                <a:solidFill>
                  <a:srgbClr val="2D83C3"/>
                </a:solidFill>
                <a:latin typeface="Trebuchet MS"/>
                <a:cs typeface="Trebuchet MS"/>
              </a:rPr>
              <a:t>Annual </a:t>
            </a:r>
            <a:r>
              <a:rPr sz="1100" b="1" spc="-10" dirty="0">
                <a:solidFill>
                  <a:srgbClr val="2D83C3"/>
                </a:solidFill>
                <a:latin typeface="Trebuchet MS"/>
                <a:cs typeface="Trebuchet MS"/>
              </a:rPr>
              <a:t>Review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371326" y="6461556"/>
            <a:ext cx="9906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50" dirty="0">
                <a:solidFill>
                  <a:srgbClr val="2D936B"/>
                </a:solidFill>
                <a:latin typeface="Trebuchet MS"/>
                <a:cs typeface="Trebuchet MS"/>
              </a:rPr>
              <a:t>4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354311" y="536447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693407" y="1699260"/>
            <a:ext cx="318770" cy="320040"/>
          </a:xfrm>
          <a:custGeom>
            <a:avLst/>
            <a:gdLst/>
            <a:ahLst/>
            <a:cxnLst/>
            <a:rect l="l" t="t" r="r" b="b"/>
            <a:pathLst>
              <a:path w="318770" h="320039">
                <a:moveTo>
                  <a:pt x="318516" y="0"/>
                </a:moveTo>
                <a:lnTo>
                  <a:pt x="0" y="0"/>
                </a:lnTo>
                <a:lnTo>
                  <a:pt x="0" y="320039"/>
                </a:lnTo>
                <a:lnTo>
                  <a:pt x="318516" y="320039"/>
                </a:lnTo>
                <a:lnTo>
                  <a:pt x="318516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354311" y="5897879"/>
            <a:ext cx="180340" cy="180340"/>
          </a:xfrm>
          <a:custGeom>
            <a:avLst/>
            <a:gdLst/>
            <a:ahLst/>
            <a:cxnLst/>
            <a:rect l="l" t="t" r="r" b="b"/>
            <a:pathLst>
              <a:path w="180340" h="180339">
                <a:moveTo>
                  <a:pt x="179831" y="0"/>
                </a:moveTo>
                <a:lnTo>
                  <a:pt x="0" y="0"/>
                </a:lnTo>
                <a:lnTo>
                  <a:pt x="0" y="179832"/>
                </a:lnTo>
                <a:lnTo>
                  <a:pt x="179831" y="179832"/>
                </a:lnTo>
                <a:lnTo>
                  <a:pt x="179831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698703" y="897763"/>
            <a:ext cx="2047239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0" dirty="0"/>
              <a:t>Objectives</a:t>
            </a:r>
            <a:endParaRPr sz="3200"/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0851" y="6176771"/>
            <a:ext cx="2182368" cy="486156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31393" y="1770989"/>
            <a:ext cx="9218930" cy="4506595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400" dirty="0">
                <a:latin typeface="Trebuchet MS"/>
                <a:cs typeface="Trebuchet MS"/>
              </a:rPr>
              <a:t>The</a:t>
            </a:r>
            <a:r>
              <a:rPr sz="1400" spc="-4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primary</a:t>
            </a:r>
            <a:r>
              <a:rPr sz="1400" spc="-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objectives</a:t>
            </a:r>
            <a:r>
              <a:rPr sz="1400" spc="-5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of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this</a:t>
            </a:r>
            <a:r>
              <a:rPr sz="1400" spc="-3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project</a:t>
            </a:r>
            <a:r>
              <a:rPr sz="1400" spc="-40" dirty="0">
                <a:latin typeface="Trebuchet MS"/>
                <a:cs typeface="Trebuchet MS"/>
              </a:rPr>
              <a:t> </a:t>
            </a:r>
            <a:r>
              <a:rPr sz="1400" spc="-20" dirty="0">
                <a:latin typeface="Trebuchet MS"/>
                <a:cs typeface="Trebuchet MS"/>
              </a:rPr>
              <a:t>are:</a:t>
            </a:r>
            <a:endParaRPr sz="1400">
              <a:latin typeface="Trebuchet MS"/>
              <a:cs typeface="Trebuchet MS"/>
            </a:endParaRPr>
          </a:p>
          <a:p>
            <a:pPr marL="12700" marR="805180">
              <a:lnSpc>
                <a:spcPct val="150000"/>
              </a:lnSpc>
            </a:pPr>
            <a:r>
              <a:rPr sz="1400" b="1" dirty="0">
                <a:latin typeface="Trebuchet MS"/>
                <a:cs typeface="Trebuchet MS"/>
              </a:rPr>
              <a:t>Data</a:t>
            </a:r>
            <a:r>
              <a:rPr sz="1400" b="1" spc="-20" dirty="0">
                <a:latin typeface="Trebuchet MS"/>
                <a:cs typeface="Trebuchet MS"/>
              </a:rPr>
              <a:t> </a:t>
            </a:r>
            <a:r>
              <a:rPr sz="1400" b="1" dirty="0">
                <a:latin typeface="Trebuchet MS"/>
                <a:cs typeface="Trebuchet MS"/>
              </a:rPr>
              <a:t>Cleaning</a:t>
            </a:r>
            <a:r>
              <a:rPr sz="1400" b="1" spc="-45" dirty="0">
                <a:latin typeface="Trebuchet MS"/>
                <a:cs typeface="Trebuchet MS"/>
              </a:rPr>
              <a:t> </a:t>
            </a:r>
            <a:r>
              <a:rPr sz="1400" b="1" dirty="0">
                <a:latin typeface="Trebuchet MS"/>
                <a:cs typeface="Trebuchet MS"/>
              </a:rPr>
              <a:t>and</a:t>
            </a:r>
            <a:r>
              <a:rPr sz="1400" b="1" spc="-10" dirty="0">
                <a:latin typeface="Trebuchet MS"/>
                <a:cs typeface="Trebuchet MS"/>
              </a:rPr>
              <a:t> </a:t>
            </a:r>
            <a:r>
              <a:rPr sz="1400" b="1" dirty="0">
                <a:latin typeface="Trebuchet MS"/>
                <a:cs typeface="Trebuchet MS"/>
              </a:rPr>
              <a:t>Preprocessing</a:t>
            </a:r>
            <a:r>
              <a:rPr sz="1400" dirty="0">
                <a:latin typeface="Trebuchet MS"/>
                <a:cs typeface="Trebuchet MS"/>
              </a:rPr>
              <a:t>:</a:t>
            </a:r>
            <a:r>
              <a:rPr sz="1400" spc="-6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Ensure</a:t>
            </a:r>
            <a:r>
              <a:rPr sz="1400" spc="-3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the</a:t>
            </a:r>
            <a:r>
              <a:rPr sz="1400" spc="-2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dataset</a:t>
            </a:r>
            <a:r>
              <a:rPr sz="1400" spc="-2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is</a:t>
            </a:r>
            <a:r>
              <a:rPr sz="1400" spc="-2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clean</a:t>
            </a:r>
            <a:r>
              <a:rPr sz="1400" spc="-4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and</a:t>
            </a:r>
            <a:r>
              <a:rPr sz="1400" spc="-2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consistent</a:t>
            </a:r>
            <a:r>
              <a:rPr sz="1400" spc="-6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by</a:t>
            </a:r>
            <a:r>
              <a:rPr sz="1400" spc="-2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handling</a:t>
            </a:r>
            <a:r>
              <a:rPr sz="1400" spc="-4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missing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values, </a:t>
            </a:r>
            <a:r>
              <a:rPr sz="1400" dirty="0">
                <a:latin typeface="Trebuchet MS"/>
                <a:cs typeface="Trebuchet MS"/>
              </a:rPr>
              <a:t>correcting</a:t>
            </a:r>
            <a:r>
              <a:rPr sz="1400" spc="-4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data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types,</a:t>
            </a:r>
            <a:r>
              <a:rPr sz="1400" spc="-4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and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removing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duplicates.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b="1" spc="-10" dirty="0">
                <a:latin typeface="Trebuchet MS"/>
                <a:cs typeface="Trebuchet MS"/>
              </a:rPr>
              <a:t>Exploratory</a:t>
            </a:r>
            <a:r>
              <a:rPr sz="1400" b="1" spc="-40" dirty="0">
                <a:latin typeface="Trebuchet MS"/>
                <a:cs typeface="Trebuchet MS"/>
              </a:rPr>
              <a:t> </a:t>
            </a:r>
            <a:r>
              <a:rPr sz="1400" b="1" dirty="0">
                <a:latin typeface="Trebuchet MS"/>
                <a:cs typeface="Trebuchet MS"/>
              </a:rPr>
              <a:t>Data</a:t>
            </a:r>
            <a:r>
              <a:rPr sz="1400" b="1" spc="-90" dirty="0">
                <a:latin typeface="Trebuchet MS"/>
                <a:cs typeface="Trebuchet MS"/>
              </a:rPr>
              <a:t> </a:t>
            </a:r>
            <a:r>
              <a:rPr sz="1400" b="1" dirty="0">
                <a:latin typeface="Trebuchet MS"/>
                <a:cs typeface="Trebuchet MS"/>
              </a:rPr>
              <a:t>Analysis</a:t>
            </a:r>
            <a:r>
              <a:rPr sz="1400" b="1" spc="-25" dirty="0">
                <a:latin typeface="Trebuchet MS"/>
                <a:cs typeface="Trebuchet MS"/>
              </a:rPr>
              <a:t> </a:t>
            </a:r>
            <a:r>
              <a:rPr sz="1400" b="1" dirty="0">
                <a:latin typeface="Trebuchet MS"/>
                <a:cs typeface="Trebuchet MS"/>
              </a:rPr>
              <a:t>(EDA)</a:t>
            </a:r>
            <a:r>
              <a:rPr sz="1400" dirty="0">
                <a:latin typeface="Trebuchet MS"/>
                <a:cs typeface="Trebuchet MS"/>
              </a:rPr>
              <a:t>:</a:t>
            </a:r>
            <a:r>
              <a:rPr sz="1400" spc="-3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Conduct</a:t>
            </a:r>
            <a:r>
              <a:rPr sz="1400" spc="-5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thorough</a:t>
            </a:r>
            <a:r>
              <a:rPr sz="1400" spc="-4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EDA</a:t>
            </a:r>
            <a:r>
              <a:rPr sz="1400" spc="-10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to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understand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the</a:t>
            </a:r>
            <a:r>
              <a:rPr sz="1400" spc="-1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distribution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of</a:t>
            </a:r>
            <a:r>
              <a:rPr sz="1400" spc="-1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variables,</a:t>
            </a:r>
            <a:r>
              <a:rPr sz="1400" spc="-15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identify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dirty="0">
                <a:latin typeface="Trebuchet MS"/>
                <a:cs typeface="Trebuchet MS"/>
              </a:rPr>
              <a:t>patterns,</a:t>
            </a:r>
            <a:r>
              <a:rPr sz="1400" spc="-3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and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uncover</a:t>
            </a:r>
            <a:r>
              <a:rPr sz="1400" spc="-5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initial</a:t>
            </a:r>
            <a:r>
              <a:rPr sz="1400" spc="-20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insights.</a:t>
            </a:r>
            <a:endParaRPr sz="1400">
              <a:latin typeface="Trebuchet MS"/>
              <a:cs typeface="Trebuchet MS"/>
            </a:endParaRPr>
          </a:p>
          <a:p>
            <a:pPr marL="12700" marR="97790">
              <a:lnSpc>
                <a:spcPct val="150000"/>
              </a:lnSpc>
            </a:pPr>
            <a:r>
              <a:rPr sz="1400" b="1" spc="-20" dirty="0">
                <a:latin typeface="Trebuchet MS"/>
                <a:cs typeface="Trebuchet MS"/>
              </a:rPr>
              <a:t>Feature</a:t>
            </a:r>
            <a:r>
              <a:rPr sz="1400" b="1" spc="-90" dirty="0">
                <a:latin typeface="Trebuchet MS"/>
                <a:cs typeface="Trebuchet MS"/>
              </a:rPr>
              <a:t> </a:t>
            </a:r>
            <a:r>
              <a:rPr sz="1400" b="1" dirty="0">
                <a:latin typeface="Trebuchet MS"/>
                <a:cs typeface="Trebuchet MS"/>
              </a:rPr>
              <a:t>Analysis</a:t>
            </a:r>
            <a:r>
              <a:rPr sz="1400" dirty="0">
                <a:latin typeface="Trebuchet MS"/>
                <a:cs typeface="Trebuchet MS"/>
              </a:rPr>
              <a:t>:</a:t>
            </a:r>
            <a:r>
              <a:rPr sz="1400" spc="-5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Examine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the</a:t>
            </a:r>
            <a:r>
              <a:rPr sz="1400" spc="-2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relationship</a:t>
            </a:r>
            <a:r>
              <a:rPr sz="1400" spc="-4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between</a:t>
            </a:r>
            <a:r>
              <a:rPr sz="1400" spc="-5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car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prices</a:t>
            </a:r>
            <a:r>
              <a:rPr sz="1400" spc="-3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and</a:t>
            </a:r>
            <a:r>
              <a:rPr sz="1400" spc="-2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various</a:t>
            </a:r>
            <a:r>
              <a:rPr sz="1400" spc="-2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features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such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as</a:t>
            </a:r>
            <a:r>
              <a:rPr sz="1400" spc="-2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brand,</a:t>
            </a:r>
            <a:r>
              <a:rPr sz="1400" spc="-20" dirty="0">
                <a:latin typeface="Trebuchet MS"/>
                <a:cs typeface="Trebuchet MS"/>
              </a:rPr>
              <a:t> </a:t>
            </a:r>
            <a:r>
              <a:rPr sz="1400" spc="-30" dirty="0">
                <a:latin typeface="Trebuchet MS"/>
                <a:cs typeface="Trebuchet MS"/>
              </a:rPr>
              <a:t>year,</a:t>
            </a:r>
            <a:r>
              <a:rPr sz="1400" spc="-20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mileage, </a:t>
            </a:r>
            <a:r>
              <a:rPr sz="1400" dirty="0">
                <a:latin typeface="Trebuchet MS"/>
                <a:cs typeface="Trebuchet MS"/>
              </a:rPr>
              <a:t>fuel</a:t>
            </a:r>
            <a:r>
              <a:rPr sz="1400" spc="-3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type,</a:t>
            </a:r>
            <a:r>
              <a:rPr sz="1400" spc="-4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and</a:t>
            </a:r>
            <a:r>
              <a:rPr sz="1400" spc="-1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more.</a:t>
            </a:r>
            <a:r>
              <a:rPr sz="1400" spc="-2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Determine</a:t>
            </a:r>
            <a:r>
              <a:rPr sz="1400" spc="-3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which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features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have</a:t>
            </a:r>
            <a:r>
              <a:rPr sz="1400" spc="-1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the</a:t>
            </a:r>
            <a:r>
              <a:rPr sz="1400" spc="-3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most</a:t>
            </a:r>
            <a:r>
              <a:rPr sz="1400" spc="-3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significant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impact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on</a:t>
            </a:r>
            <a:r>
              <a:rPr sz="1400" spc="-2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car</a:t>
            </a:r>
            <a:r>
              <a:rPr sz="1400" spc="-20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prices.</a:t>
            </a:r>
            <a:endParaRPr sz="1400">
              <a:latin typeface="Trebuchet MS"/>
              <a:cs typeface="Trebuchet MS"/>
            </a:endParaRPr>
          </a:p>
          <a:p>
            <a:pPr marL="12700" marR="98425">
              <a:lnSpc>
                <a:spcPct val="150000"/>
              </a:lnSpc>
            </a:pPr>
            <a:r>
              <a:rPr sz="1400" b="1" dirty="0">
                <a:latin typeface="Trebuchet MS"/>
                <a:cs typeface="Trebuchet MS"/>
              </a:rPr>
              <a:t>Market</a:t>
            </a:r>
            <a:r>
              <a:rPr sz="1400" b="1" spc="-75" dirty="0">
                <a:latin typeface="Trebuchet MS"/>
                <a:cs typeface="Trebuchet MS"/>
              </a:rPr>
              <a:t> </a:t>
            </a:r>
            <a:r>
              <a:rPr sz="1400" b="1" spc="-20" dirty="0">
                <a:latin typeface="Trebuchet MS"/>
                <a:cs typeface="Trebuchet MS"/>
              </a:rPr>
              <a:t>Trends</a:t>
            </a:r>
            <a:r>
              <a:rPr sz="1400" b="1" spc="-25" dirty="0">
                <a:latin typeface="Trebuchet MS"/>
                <a:cs typeface="Trebuchet MS"/>
              </a:rPr>
              <a:t> </a:t>
            </a:r>
            <a:r>
              <a:rPr sz="1400" b="1" dirty="0">
                <a:latin typeface="Trebuchet MS"/>
                <a:cs typeface="Trebuchet MS"/>
              </a:rPr>
              <a:t>and</a:t>
            </a:r>
            <a:r>
              <a:rPr sz="1400" b="1" spc="-15" dirty="0">
                <a:latin typeface="Trebuchet MS"/>
                <a:cs typeface="Trebuchet MS"/>
              </a:rPr>
              <a:t> </a:t>
            </a:r>
            <a:r>
              <a:rPr sz="1400" b="1" spc="-10" dirty="0">
                <a:latin typeface="Trebuchet MS"/>
                <a:cs typeface="Trebuchet MS"/>
              </a:rPr>
              <a:t>Dynamics</a:t>
            </a:r>
            <a:r>
              <a:rPr sz="1400" spc="-10" dirty="0">
                <a:latin typeface="Trebuchet MS"/>
                <a:cs typeface="Trebuchet MS"/>
              </a:rPr>
              <a:t>:</a:t>
            </a:r>
            <a:r>
              <a:rPr sz="1400" spc="-10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Analyze</a:t>
            </a:r>
            <a:r>
              <a:rPr sz="1400" spc="-4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trends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over</a:t>
            </a:r>
            <a:r>
              <a:rPr sz="1400" spc="-1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time</a:t>
            </a:r>
            <a:r>
              <a:rPr sz="1400" spc="-1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to</a:t>
            </a:r>
            <a:r>
              <a:rPr sz="1400" spc="-1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understand</a:t>
            </a:r>
            <a:r>
              <a:rPr sz="1400" spc="-3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how</a:t>
            </a:r>
            <a:r>
              <a:rPr sz="1400" spc="-3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the</a:t>
            </a:r>
            <a:r>
              <a:rPr sz="1400" spc="-3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popularity</a:t>
            </a:r>
            <a:r>
              <a:rPr sz="1400" spc="-3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of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different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car</a:t>
            </a:r>
            <a:r>
              <a:rPr sz="1400" spc="-20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models </a:t>
            </a:r>
            <a:r>
              <a:rPr sz="1400" dirty="0">
                <a:latin typeface="Trebuchet MS"/>
                <a:cs typeface="Trebuchet MS"/>
              </a:rPr>
              <a:t>and</a:t>
            </a:r>
            <a:r>
              <a:rPr sz="1400" spc="-2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features</a:t>
            </a:r>
            <a:r>
              <a:rPr sz="1400" spc="-2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has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evolved.</a:t>
            </a:r>
            <a:r>
              <a:rPr sz="1400" spc="-4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Identify</a:t>
            </a:r>
            <a:r>
              <a:rPr sz="1400" spc="-4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the</a:t>
            </a:r>
            <a:r>
              <a:rPr sz="1400" spc="-3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most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and</a:t>
            </a:r>
            <a:r>
              <a:rPr sz="1400" spc="-2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least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popular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car</a:t>
            </a:r>
            <a:r>
              <a:rPr sz="1400" spc="-20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features.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b="1" spc="-10" dirty="0">
                <a:latin typeface="Trebuchet MS"/>
                <a:cs typeface="Trebuchet MS"/>
              </a:rPr>
              <a:t>Depreciation</a:t>
            </a:r>
            <a:r>
              <a:rPr sz="1400" b="1" spc="-114" dirty="0">
                <a:latin typeface="Trebuchet MS"/>
                <a:cs typeface="Trebuchet MS"/>
              </a:rPr>
              <a:t> </a:t>
            </a:r>
            <a:r>
              <a:rPr sz="1400" b="1" dirty="0">
                <a:latin typeface="Trebuchet MS"/>
                <a:cs typeface="Trebuchet MS"/>
              </a:rPr>
              <a:t>Analysis</a:t>
            </a:r>
            <a:r>
              <a:rPr sz="1400" dirty="0">
                <a:latin typeface="Trebuchet MS"/>
                <a:cs typeface="Trebuchet MS"/>
              </a:rPr>
              <a:t>:</a:t>
            </a:r>
            <a:r>
              <a:rPr sz="1400" spc="-4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Investigate</a:t>
            </a:r>
            <a:r>
              <a:rPr sz="1400" spc="-3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how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car</a:t>
            </a:r>
            <a:r>
              <a:rPr sz="1400" spc="-1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values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depreciate</a:t>
            </a:r>
            <a:r>
              <a:rPr sz="1400" spc="-3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over</a:t>
            </a:r>
            <a:r>
              <a:rPr sz="1400" spc="-1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time,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considering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factors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like</a:t>
            </a:r>
            <a:r>
              <a:rPr sz="1400" spc="-3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age,</a:t>
            </a:r>
            <a:r>
              <a:rPr sz="1400" spc="-1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mileage,</a:t>
            </a:r>
            <a:r>
              <a:rPr sz="1400" spc="-30" dirty="0">
                <a:latin typeface="Trebuchet MS"/>
                <a:cs typeface="Trebuchet MS"/>
              </a:rPr>
              <a:t> </a:t>
            </a:r>
            <a:r>
              <a:rPr sz="1400" spc="-25" dirty="0">
                <a:latin typeface="Trebuchet MS"/>
                <a:cs typeface="Trebuchet MS"/>
              </a:rPr>
              <a:t>and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45"/>
              </a:spcBef>
            </a:pPr>
            <a:r>
              <a:rPr sz="1400" spc="-10" dirty="0">
                <a:latin typeface="Trebuchet MS"/>
                <a:cs typeface="Trebuchet MS"/>
              </a:rPr>
              <a:t>condition.</a:t>
            </a:r>
            <a:endParaRPr sz="1400">
              <a:latin typeface="Trebuchet MS"/>
              <a:cs typeface="Trebuchet MS"/>
            </a:endParaRPr>
          </a:p>
          <a:p>
            <a:pPr marL="12700" marR="1046480">
              <a:lnSpc>
                <a:spcPct val="150000"/>
              </a:lnSpc>
            </a:pPr>
            <a:r>
              <a:rPr sz="1400" b="1" dirty="0">
                <a:latin typeface="Trebuchet MS"/>
                <a:cs typeface="Trebuchet MS"/>
              </a:rPr>
              <a:t>Data</a:t>
            </a:r>
            <a:r>
              <a:rPr sz="1400" b="1" spc="-30" dirty="0">
                <a:latin typeface="Trebuchet MS"/>
                <a:cs typeface="Trebuchet MS"/>
              </a:rPr>
              <a:t> </a:t>
            </a:r>
            <a:r>
              <a:rPr sz="1400" b="1" dirty="0">
                <a:latin typeface="Trebuchet MS"/>
                <a:cs typeface="Trebuchet MS"/>
              </a:rPr>
              <a:t>Visualization</a:t>
            </a:r>
            <a:r>
              <a:rPr sz="1400" dirty="0">
                <a:latin typeface="Trebuchet MS"/>
                <a:cs typeface="Trebuchet MS"/>
              </a:rPr>
              <a:t>:</a:t>
            </a:r>
            <a:r>
              <a:rPr sz="1400" spc="-6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Use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matplotlib</a:t>
            </a:r>
            <a:r>
              <a:rPr sz="1400" spc="-5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and</a:t>
            </a:r>
            <a:r>
              <a:rPr sz="1400" spc="-3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other</a:t>
            </a:r>
            <a:r>
              <a:rPr sz="1400" spc="-3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visualization</a:t>
            </a:r>
            <a:r>
              <a:rPr sz="1400" spc="-4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tools</a:t>
            </a:r>
            <a:r>
              <a:rPr sz="1400" spc="-4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to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create</a:t>
            </a:r>
            <a:r>
              <a:rPr sz="1400" spc="-4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clear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and</a:t>
            </a:r>
            <a:r>
              <a:rPr sz="1400" spc="-3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informative</a:t>
            </a:r>
            <a:r>
              <a:rPr sz="1400" spc="-20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visual </a:t>
            </a:r>
            <a:r>
              <a:rPr sz="1400" dirty="0">
                <a:latin typeface="Trebuchet MS"/>
                <a:cs typeface="Trebuchet MS"/>
              </a:rPr>
              <a:t>representations</a:t>
            </a:r>
            <a:r>
              <a:rPr sz="1400" spc="-5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of</a:t>
            </a:r>
            <a:r>
              <a:rPr sz="1400" spc="-3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the</a:t>
            </a:r>
            <a:r>
              <a:rPr sz="1400" spc="-4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data,</a:t>
            </a:r>
            <a:r>
              <a:rPr sz="1400" spc="-2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highlighting</a:t>
            </a:r>
            <a:r>
              <a:rPr sz="1400" spc="-6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key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insights.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b="1" dirty="0">
                <a:latin typeface="Trebuchet MS"/>
                <a:cs typeface="Trebuchet MS"/>
              </a:rPr>
              <a:t>Conclusions</a:t>
            </a:r>
            <a:r>
              <a:rPr sz="1400" b="1" spc="-65" dirty="0">
                <a:latin typeface="Trebuchet MS"/>
                <a:cs typeface="Trebuchet MS"/>
              </a:rPr>
              <a:t> </a:t>
            </a:r>
            <a:r>
              <a:rPr sz="1400" b="1" dirty="0">
                <a:latin typeface="Trebuchet MS"/>
                <a:cs typeface="Trebuchet MS"/>
              </a:rPr>
              <a:t>and</a:t>
            </a:r>
            <a:r>
              <a:rPr sz="1400" b="1" spc="-30" dirty="0">
                <a:latin typeface="Trebuchet MS"/>
                <a:cs typeface="Trebuchet MS"/>
              </a:rPr>
              <a:t> </a:t>
            </a:r>
            <a:r>
              <a:rPr sz="1400" b="1" dirty="0">
                <a:latin typeface="Trebuchet MS"/>
                <a:cs typeface="Trebuchet MS"/>
              </a:rPr>
              <a:t>Recommendations</a:t>
            </a:r>
            <a:r>
              <a:rPr sz="1400" dirty="0">
                <a:latin typeface="Trebuchet MS"/>
                <a:cs typeface="Trebuchet MS"/>
              </a:rPr>
              <a:t>:</a:t>
            </a:r>
            <a:r>
              <a:rPr sz="1400" spc="-6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Summarize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the</a:t>
            </a:r>
            <a:r>
              <a:rPr sz="1400" spc="-3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findings</a:t>
            </a:r>
            <a:r>
              <a:rPr sz="1400" spc="-5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from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the</a:t>
            </a:r>
            <a:r>
              <a:rPr sz="1400" spc="-4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analysis</a:t>
            </a:r>
            <a:r>
              <a:rPr sz="1400" spc="-4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and</a:t>
            </a:r>
            <a:r>
              <a:rPr sz="1400" spc="-3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provide</a:t>
            </a:r>
            <a:r>
              <a:rPr sz="1400" spc="-3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actionable</a:t>
            </a:r>
            <a:r>
              <a:rPr sz="1400" spc="-5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insights</a:t>
            </a:r>
            <a:r>
              <a:rPr sz="1400" spc="-50" dirty="0">
                <a:latin typeface="Trebuchet MS"/>
                <a:cs typeface="Trebuchet MS"/>
              </a:rPr>
              <a:t> </a:t>
            </a:r>
            <a:r>
              <a:rPr sz="1400" spc="-25" dirty="0">
                <a:latin typeface="Trebuchet MS"/>
                <a:cs typeface="Trebuchet MS"/>
              </a:rPr>
              <a:t>for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1393" y="6357924"/>
            <a:ext cx="567817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Trebuchet MS"/>
                <a:cs typeface="Trebuchet MS"/>
              </a:rPr>
              <a:t>various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stakeholders,</a:t>
            </a:r>
            <a:r>
              <a:rPr sz="1400" spc="-5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including</a:t>
            </a:r>
            <a:r>
              <a:rPr sz="1400" spc="-5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car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buyers,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sellers,</a:t>
            </a:r>
            <a:r>
              <a:rPr sz="1400" spc="-5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and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manufacturers.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012691"/>
            <a:ext cx="448309" cy="2845435"/>
          </a:xfrm>
          <a:custGeom>
            <a:avLst/>
            <a:gdLst/>
            <a:ahLst/>
            <a:cxnLst/>
            <a:rect l="l" t="t" r="r" b="b"/>
            <a:pathLst>
              <a:path w="448309" h="2845434">
                <a:moveTo>
                  <a:pt x="0" y="0"/>
                </a:moveTo>
                <a:lnTo>
                  <a:pt x="0" y="2845307"/>
                </a:lnTo>
                <a:lnTo>
                  <a:pt x="448056" y="2845307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1941" y="6482814"/>
            <a:ext cx="1752600" cy="163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55"/>
              </a:lnSpc>
            </a:pPr>
            <a:r>
              <a:rPr sz="1100" dirty="0">
                <a:solidFill>
                  <a:srgbClr val="2D83C3"/>
                </a:solidFill>
                <a:latin typeface="Trebuchet MS"/>
                <a:cs typeface="Trebuchet MS"/>
              </a:rPr>
              <a:t>7/13/2024</a:t>
            </a:r>
            <a:r>
              <a:rPr sz="1100" spc="140" dirty="0">
                <a:solidFill>
                  <a:srgbClr val="2D83C3"/>
                </a:solidFill>
                <a:latin typeface="Trebuchet MS"/>
                <a:cs typeface="Trebuchet MS"/>
              </a:rPr>
              <a:t>  </a:t>
            </a:r>
            <a:r>
              <a:rPr sz="1100" b="1" dirty="0">
                <a:solidFill>
                  <a:srgbClr val="2D83C3"/>
                </a:solidFill>
                <a:latin typeface="Trebuchet MS"/>
                <a:cs typeface="Trebuchet MS"/>
              </a:rPr>
              <a:t>Annual </a:t>
            </a:r>
            <a:r>
              <a:rPr sz="1100" b="1" spc="-10" dirty="0">
                <a:solidFill>
                  <a:srgbClr val="2D83C3"/>
                </a:solidFill>
                <a:latin typeface="Trebuchet MS"/>
                <a:cs typeface="Trebuchet MS"/>
              </a:rPr>
              <a:t>Review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371326" y="6461556"/>
            <a:ext cx="9906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50" dirty="0">
                <a:solidFill>
                  <a:srgbClr val="2D936B"/>
                </a:solidFill>
                <a:latin typeface="Trebuchet MS"/>
                <a:cs typeface="Trebuchet MS"/>
              </a:rPr>
              <a:t>5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354311" y="536447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693407" y="1699260"/>
            <a:ext cx="318770" cy="320040"/>
          </a:xfrm>
          <a:custGeom>
            <a:avLst/>
            <a:gdLst/>
            <a:ahLst/>
            <a:cxnLst/>
            <a:rect l="l" t="t" r="r" b="b"/>
            <a:pathLst>
              <a:path w="318770" h="320039">
                <a:moveTo>
                  <a:pt x="318516" y="0"/>
                </a:moveTo>
                <a:lnTo>
                  <a:pt x="0" y="0"/>
                </a:lnTo>
                <a:lnTo>
                  <a:pt x="0" y="320039"/>
                </a:lnTo>
                <a:lnTo>
                  <a:pt x="318516" y="320039"/>
                </a:lnTo>
                <a:lnTo>
                  <a:pt x="318516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354311" y="5897879"/>
            <a:ext cx="180340" cy="180340"/>
          </a:xfrm>
          <a:custGeom>
            <a:avLst/>
            <a:gdLst/>
            <a:ahLst/>
            <a:cxnLst/>
            <a:rect l="l" t="t" r="r" b="b"/>
            <a:pathLst>
              <a:path w="180340" h="180339">
                <a:moveTo>
                  <a:pt x="179831" y="0"/>
                </a:moveTo>
                <a:lnTo>
                  <a:pt x="0" y="0"/>
                </a:lnTo>
                <a:lnTo>
                  <a:pt x="0" y="179832"/>
                </a:lnTo>
                <a:lnTo>
                  <a:pt x="179831" y="179832"/>
                </a:lnTo>
                <a:lnTo>
                  <a:pt x="179831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698703" y="897763"/>
            <a:ext cx="243586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0" dirty="0"/>
              <a:t>Methodology</a:t>
            </a:r>
            <a:endParaRPr sz="3200"/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0851" y="6176771"/>
            <a:ext cx="2182368" cy="486156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371043" y="2079497"/>
            <a:ext cx="9755505" cy="3683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8255">
              <a:lnSpc>
                <a:spcPct val="100000"/>
              </a:lnSpc>
              <a:spcBef>
                <a:spcPts val="100"/>
              </a:spcBef>
              <a:buSzPct val="95833"/>
              <a:buFont typeface="Arial MT"/>
              <a:buChar char="•"/>
              <a:tabLst>
                <a:tab pos="118745" algn="l"/>
              </a:tabLst>
            </a:pPr>
            <a:r>
              <a:rPr sz="2400" b="1" dirty="0">
                <a:latin typeface="Arial"/>
                <a:cs typeface="Arial"/>
              </a:rPr>
              <a:t>	Data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Cleaning</a:t>
            </a:r>
            <a:r>
              <a:rPr sz="2400" dirty="0">
                <a:latin typeface="Arial MT"/>
                <a:cs typeface="Arial MT"/>
              </a:rPr>
              <a:t>: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Handle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missing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values,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correct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data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types,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remove duplicates.</a:t>
            </a:r>
            <a:endParaRPr sz="2400">
              <a:latin typeface="Arial MT"/>
              <a:cs typeface="Arial MT"/>
            </a:endParaRPr>
          </a:p>
          <a:p>
            <a:pPr marL="12700" marR="10795" indent="-8255">
              <a:lnSpc>
                <a:spcPct val="100000"/>
              </a:lnSpc>
              <a:buSzPct val="95833"/>
              <a:buFont typeface="Arial MT"/>
              <a:buChar char="•"/>
              <a:tabLst>
                <a:tab pos="118745" algn="l"/>
              </a:tabLst>
            </a:pPr>
            <a:r>
              <a:rPr sz="2400" b="1" dirty="0">
                <a:latin typeface="Arial"/>
                <a:cs typeface="Arial"/>
              </a:rPr>
              <a:t>	Exploratory</a:t>
            </a:r>
            <a:r>
              <a:rPr sz="2400" b="1" spc="-7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Data</a:t>
            </a:r>
            <a:r>
              <a:rPr sz="2400" b="1" spc="-1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Analysis</a:t>
            </a:r>
            <a:r>
              <a:rPr sz="2400" dirty="0">
                <a:latin typeface="Arial MT"/>
                <a:cs typeface="Arial MT"/>
              </a:rPr>
              <a:t>: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pandas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numpy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data </a:t>
            </a:r>
            <a:r>
              <a:rPr sz="2400" dirty="0">
                <a:latin typeface="Arial MT"/>
                <a:cs typeface="Arial MT"/>
              </a:rPr>
              <a:t>manipulation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summary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statistics.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Utilize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matplotlib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visualizations.</a:t>
            </a:r>
            <a:endParaRPr sz="2400">
              <a:latin typeface="Arial MT"/>
              <a:cs typeface="Arial MT"/>
            </a:endParaRPr>
          </a:p>
          <a:p>
            <a:pPr marL="12700" marR="584200" indent="-8255">
              <a:lnSpc>
                <a:spcPct val="100000"/>
              </a:lnSpc>
              <a:buSzPct val="95833"/>
              <a:buFont typeface="Arial MT"/>
              <a:buChar char="•"/>
              <a:tabLst>
                <a:tab pos="118745" algn="l"/>
              </a:tabLst>
            </a:pPr>
            <a:r>
              <a:rPr sz="2400" b="1" dirty="0">
                <a:latin typeface="Arial"/>
                <a:cs typeface="Arial"/>
              </a:rPr>
              <a:t>	Feature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Engineering</a:t>
            </a:r>
            <a:r>
              <a:rPr sz="2400" dirty="0">
                <a:latin typeface="Arial MT"/>
                <a:cs typeface="Arial MT"/>
              </a:rPr>
              <a:t>: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Create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new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features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might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useful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for </a:t>
            </a:r>
            <a:r>
              <a:rPr sz="2400" dirty="0">
                <a:latin typeface="Arial MT"/>
                <a:cs typeface="Arial MT"/>
              </a:rPr>
              <a:t>analysis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or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predictive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modeling.</a:t>
            </a:r>
            <a:endParaRPr sz="2400">
              <a:latin typeface="Arial MT"/>
              <a:cs typeface="Arial MT"/>
            </a:endParaRPr>
          </a:p>
          <a:p>
            <a:pPr marL="12700" marR="1026160" indent="-8255">
              <a:lnSpc>
                <a:spcPct val="100000"/>
              </a:lnSpc>
              <a:buSzPct val="95833"/>
              <a:buFont typeface="Arial MT"/>
              <a:buChar char="•"/>
              <a:tabLst>
                <a:tab pos="118745" algn="l"/>
              </a:tabLst>
            </a:pPr>
            <a:r>
              <a:rPr sz="2400" b="1" dirty="0">
                <a:latin typeface="Arial"/>
                <a:cs typeface="Arial"/>
              </a:rPr>
              <a:t>	Visualization</a:t>
            </a:r>
            <a:r>
              <a:rPr sz="2400" dirty="0">
                <a:latin typeface="Arial MT"/>
                <a:cs typeface="Arial MT"/>
              </a:rPr>
              <a:t>: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Develop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various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plots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(scatter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plots,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bar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charts, </a:t>
            </a:r>
            <a:r>
              <a:rPr sz="2400" dirty="0">
                <a:latin typeface="Arial MT"/>
                <a:cs typeface="Arial MT"/>
              </a:rPr>
              <a:t>histograms,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etc.)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visualize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data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distributions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relationships.</a:t>
            </a:r>
            <a:endParaRPr sz="2400">
              <a:latin typeface="Arial MT"/>
              <a:cs typeface="Arial MT"/>
            </a:endParaRPr>
          </a:p>
          <a:p>
            <a:pPr marL="12700" marR="361315" indent="-8255">
              <a:lnSpc>
                <a:spcPct val="100000"/>
              </a:lnSpc>
              <a:spcBef>
                <a:spcPts val="5"/>
              </a:spcBef>
              <a:buSzPct val="95833"/>
              <a:buFont typeface="Arial MT"/>
              <a:buChar char="•"/>
              <a:tabLst>
                <a:tab pos="118745" algn="l"/>
              </a:tabLst>
            </a:pPr>
            <a:r>
              <a:rPr sz="2400" b="1" dirty="0">
                <a:latin typeface="Arial"/>
                <a:cs typeface="Arial"/>
              </a:rPr>
              <a:t>	Analysis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and</a:t>
            </a:r>
            <a:r>
              <a:rPr sz="2400" b="1" spc="-8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Insights</a:t>
            </a:r>
            <a:r>
              <a:rPr sz="2400" dirty="0">
                <a:latin typeface="Arial MT"/>
                <a:cs typeface="Arial MT"/>
              </a:rPr>
              <a:t>: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Conduct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in-</a:t>
            </a:r>
            <a:r>
              <a:rPr sz="2400" dirty="0">
                <a:latin typeface="Arial MT"/>
                <a:cs typeface="Arial MT"/>
              </a:rPr>
              <a:t>depth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analysis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understand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the </a:t>
            </a:r>
            <a:r>
              <a:rPr sz="2400" dirty="0">
                <a:latin typeface="Arial MT"/>
                <a:cs typeface="Arial MT"/>
              </a:rPr>
              <a:t>factors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affecting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car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prices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market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trends.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012691"/>
            <a:ext cx="448309" cy="2845435"/>
          </a:xfrm>
          <a:custGeom>
            <a:avLst/>
            <a:gdLst/>
            <a:ahLst/>
            <a:cxnLst/>
            <a:rect l="l" t="t" r="r" b="b"/>
            <a:pathLst>
              <a:path w="448309" h="2845434">
                <a:moveTo>
                  <a:pt x="0" y="0"/>
                </a:moveTo>
                <a:lnTo>
                  <a:pt x="0" y="2845307"/>
                </a:lnTo>
                <a:lnTo>
                  <a:pt x="448056" y="2845307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1941" y="6482814"/>
            <a:ext cx="1752600" cy="163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55"/>
              </a:lnSpc>
            </a:pPr>
            <a:r>
              <a:rPr sz="1100" dirty="0">
                <a:solidFill>
                  <a:srgbClr val="2D83C3"/>
                </a:solidFill>
                <a:latin typeface="Trebuchet MS"/>
                <a:cs typeface="Trebuchet MS"/>
              </a:rPr>
              <a:t>7/13/2024</a:t>
            </a:r>
            <a:r>
              <a:rPr sz="1100" spc="140" dirty="0">
                <a:solidFill>
                  <a:srgbClr val="2D83C3"/>
                </a:solidFill>
                <a:latin typeface="Trebuchet MS"/>
                <a:cs typeface="Trebuchet MS"/>
              </a:rPr>
              <a:t>  </a:t>
            </a:r>
            <a:r>
              <a:rPr sz="1100" b="1" dirty="0">
                <a:solidFill>
                  <a:srgbClr val="2D83C3"/>
                </a:solidFill>
                <a:latin typeface="Trebuchet MS"/>
                <a:cs typeface="Trebuchet MS"/>
              </a:rPr>
              <a:t>Annual </a:t>
            </a:r>
            <a:r>
              <a:rPr sz="1100" b="1" spc="-10" dirty="0">
                <a:solidFill>
                  <a:srgbClr val="2D83C3"/>
                </a:solidFill>
                <a:latin typeface="Trebuchet MS"/>
                <a:cs typeface="Trebuchet MS"/>
              </a:rPr>
              <a:t>Review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371326" y="6461556"/>
            <a:ext cx="9906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50" dirty="0">
                <a:solidFill>
                  <a:srgbClr val="2D936B"/>
                </a:solidFill>
                <a:latin typeface="Trebuchet MS"/>
                <a:cs typeface="Trebuchet MS"/>
              </a:rPr>
              <a:t>6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354311" y="536447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693407" y="1699260"/>
            <a:ext cx="318770" cy="320040"/>
          </a:xfrm>
          <a:custGeom>
            <a:avLst/>
            <a:gdLst/>
            <a:ahLst/>
            <a:cxnLst/>
            <a:rect l="l" t="t" r="r" b="b"/>
            <a:pathLst>
              <a:path w="318770" h="320039">
                <a:moveTo>
                  <a:pt x="318516" y="0"/>
                </a:moveTo>
                <a:lnTo>
                  <a:pt x="0" y="0"/>
                </a:lnTo>
                <a:lnTo>
                  <a:pt x="0" y="320039"/>
                </a:lnTo>
                <a:lnTo>
                  <a:pt x="318516" y="320039"/>
                </a:lnTo>
                <a:lnTo>
                  <a:pt x="318516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354311" y="5897879"/>
            <a:ext cx="180340" cy="180340"/>
          </a:xfrm>
          <a:custGeom>
            <a:avLst/>
            <a:gdLst/>
            <a:ahLst/>
            <a:cxnLst/>
            <a:rect l="l" t="t" r="r" b="b"/>
            <a:pathLst>
              <a:path w="180340" h="180339">
                <a:moveTo>
                  <a:pt x="179831" y="0"/>
                </a:moveTo>
                <a:lnTo>
                  <a:pt x="0" y="0"/>
                </a:lnTo>
                <a:lnTo>
                  <a:pt x="0" y="179832"/>
                </a:lnTo>
                <a:lnTo>
                  <a:pt x="179831" y="179832"/>
                </a:lnTo>
                <a:lnTo>
                  <a:pt x="179831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698703" y="897763"/>
            <a:ext cx="502221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/>
              <a:t>WHO</a:t>
            </a:r>
            <a:r>
              <a:rPr sz="3200" spc="-215" dirty="0"/>
              <a:t> </a:t>
            </a:r>
            <a:r>
              <a:rPr sz="3200" dirty="0"/>
              <a:t>ARE</a:t>
            </a:r>
            <a:r>
              <a:rPr sz="3200" spc="-105" dirty="0"/>
              <a:t> </a:t>
            </a:r>
            <a:r>
              <a:rPr sz="3200" dirty="0"/>
              <a:t>THE</a:t>
            </a:r>
            <a:r>
              <a:rPr sz="3200" spc="-20" dirty="0"/>
              <a:t> </a:t>
            </a:r>
            <a:r>
              <a:rPr sz="3200" dirty="0"/>
              <a:t>END</a:t>
            </a:r>
            <a:r>
              <a:rPr sz="3200" spc="-25" dirty="0"/>
              <a:t> </a:t>
            </a:r>
            <a:r>
              <a:rPr sz="3200" spc="-10" dirty="0"/>
              <a:t>USERS?</a:t>
            </a:r>
            <a:endParaRPr sz="3200"/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0851" y="6176771"/>
            <a:ext cx="2182368" cy="486156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556971" y="2171776"/>
            <a:ext cx="8657590" cy="44316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66675" indent="-8890">
              <a:lnSpc>
                <a:spcPct val="100000"/>
              </a:lnSpc>
              <a:spcBef>
                <a:spcPts val="105"/>
              </a:spcBef>
              <a:buSzPct val="94117"/>
              <a:buFont typeface="Arial MT"/>
              <a:buChar char="•"/>
              <a:tabLst>
                <a:tab pos="88265" algn="l"/>
              </a:tabLst>
            </a:pPr>
            <a:r>
              <a:rPr sz="1700" b="1" dirty="0">
                <a:latin typeface="Arial"/>
                <a:cs typeface="Arial"/>
              </a:rPr>
              <a:t>	Car</a:t>
            </a:r>
            <a:r>
              <a:rPr sz="1700" b="1" spc="-30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Buyers</a:t>
            </a:r>
            <a:r>
              <a:rPr sz="1700" dirty="0">
                <a:latin typeface="Arial MT"/>
                <a:cs typeface="Arial MT"/>
              </a:rPr>
              <a:t>:</a:t>
            </a:r>
            <a:r>
              <a:rPr sz="1700" spc="-2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Individuals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looking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to</a:t>
            </a:r>
            <a:r>
              <a:rPr sz="1700" spc="-1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purchase</a:t>
            </a:r>
            <a:r>
              <a:rPr sz="1700" spc="-1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</a:t>
            </a:r>
            <a:r>
              <a:rPr sz="1700" spc="-2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car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can</a:t>
            </a:r>
            <a:r>
              <a:rPr sz="1700" spc="-1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use</a:t>
            </a:r>
            <a:r>
              <a:rPr sz="1700" spc="-2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insights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to</a:t>
            </a:r>
            <a:r>
              <a:rPr sz="1700" spc="-2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make</a:t>
            </a:r>
            <a:r>
              <a:rPr sz="1700" spc="-1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informed </a:t>
            </a:r>
            <a:r>
              <a:rPr sz="1700" dirty="0">
                <a:latin typeface="Arial MT"/>
                <a:cs typeface="Arial MT"/>
              </a:rPr>
              <a:t>decisions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about</a:t>
            </a:r>
            <a:r>
              <a:rPr sz="1700" spc="-2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which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models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offer</a:t>
            </a:r>
            <a:r>
              <a:rPr sz="1700" spc="-2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2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best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value,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understand</a:t>
            </a:r>
            <a:r>
              <a:rPr sz="1700" spc="-2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depreciation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trends,</a:t>
            </a:r>
            <a:r>
              <a:rPr sz="1700" spc="-25" dirty="0">
                <a:latin typeface="Arial MT"/>
                <a:cs typeface="Arial MT"/>
              </a:rPr>
              <a:t> and </a:t>
            </a:r>
            <a:r>
              <a:rPr sz="1700" dirty="0">
                <a:latin typeface="Arial MT"/>
                <a:cs typeface="Arial MT"/>
              </a:rPr>
              <a:t>identify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2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most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desirable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features.</a:t>
            </a:r>
            <a:endParaRPr sz="1700">
              <a:latin typeface="Arial MT"/>
              <a:cs typeface="Arial MT"/>
            </a:endParaRPr>
          </a:p>
          <a:p>
            <a:pPr marL="12700" marR="69850" indent="-8890" algn="just">
              <a:lnSpc>
                <a:spcPct val="100000"/>
              </a:lnSpc>
              <a:spcBef>
                <a:spcPts val="5"/>
              </a:spcBef>
              <a:buSzPct val="94117"/>
              <a:buFont typeface="Arial MT"/>
              <a:buChar char="•"/>
              <a:tabLst>
                <a:tab pos="88265" algn="l"/>
              </a:tabLst>
            </a:pPr>
            <a:r>
              <a:rPr sz="1700" b="1" dirty="0">
                <a:latin typeface="Arial"/>
                <a:cs typeface="Arial"/>
              </a:rPr>
              <a:t>	Car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Sellers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and</a:t>
            </a:r>
            <a:r>
              <a:rPr sz="1700" b="1" spc="-50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Dealers</a:t>
            </a:r>
            <a:r>
              <a:rPr sz="1700" dirty="0">
                <a:latin typeface="Arial MT"/>
                <a:cs typeface="Arial MT"/>
              </a:rPr>
              <a:t>: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Dealerships</a:t>
            </a:r>
            <a:r>
              <a:rPr sz="1700" spc="-7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and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individual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sellers</a:t>
            </a:r>
            <a:r>
              <a:rPr sz="1700" spc="-7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can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leverage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analysis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spc="-25" dirty="0">
                <a:latin typeface="Arial MT"/>
                <a:cs typeface="Arial MT"/>
              </a:rPr>
              <a:t>to </a:t>
            </a:r>
            <a:r>
              <a:rPr sz="1700" dirty="0">
                <a:latin typeface="Arial MT"/>
                <a:cs typeface="Arial MT"/>
              </a:rPr>
              <a:t>price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their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vehicles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competitively,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understand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market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demand,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and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identify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which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features </a:t>
            </a:r>
            <a:r>
              <a:rPr sz="1700" dirty="0">
                <a:latin typeface="Arial MT"/>
                <a:cs typeface="Arial MT"/>
              </a:rPr>
              <a:t>and</a:t>
            </a:r>
            <a:r>
              <a:rPr sz="1700" spc="-2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models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are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most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popular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among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buyers.</a:t>
            </a:r>
            <a:endParaRPr sz="1700">
              <a:latin typeface="Arial MT"/>
              <a:cs typeface="Arial MT"/>
            </a:endParaRPr>
          </a:p>
          <a:p>
            <a:pPr marL="12700" marR="559435" indent="-8890">
              <a:lnSpc>
                <a:spcPct val="100000"/>
              </a:lnSpc>
              <a:buSzPct val="94117"/>
              <a:buFont typeface="Arial MT"/>
              <a:buChar char="•"/>
              <a:tabLst>
                <a:tab pos="88265" algn="l"/>
              </a:tabLst>
            </a:pPr>
            <a:r>
              <a:rPr sz="1700" b="1" dirty="0">
                <a:latin typeface="Arial"/>
                <a:cs typeface="Arial"/>
              </a:rPr>
              <a:t>	Car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Manufacturers</a:t>
            </a:r>
            <a:r>
              <a:rPr sz="1700" dirty="0">
                <a:latin typeface="Arial MT"/>
                <a:cs typeface="Arial MT"/>
              </a:rPr>
              <a:t>: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Manufacturers</a:t>
            </a:r>
            <a:r>
              <a:rPr sz="1700" spc="-2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can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use</a:t>
            </a:r>
            <a:r>
              <a:rPr sz="1700" spc="-2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2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data</a:t>
            </a:r>
            <a:r>
              <a:rPr sz="1700" spc="-2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to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gain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insights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into</a:t>
            </a:r>
            <a:r>
              <a:rPr sz="1700" spc="-2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consumer </a:t>
            </a:r>
            <a:r>
              <a:rPr sz="1700" dirty="0">
                <a:latin typeface="Arial MT"/>
                <a:cs typeface="Arial MT"/>
              </a:rPr>
              <a:t>preferences,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identify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trends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in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market,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and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make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strategic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decisions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regarding </a:t>
            </a:r>
            <a:r>
              <a:rPr sz="1700" dirty="0">
                <a:latin typeface="Arial MT"/>
                <a:cs typeface="Arial MT"/>
              </a:rPr>
              <a:t>production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and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marketing.</a:t>
            </a:r>
            <a:endParaRPr sz="1700">
              <a:latin typeface="Arial MT"/>
              <a:cs typeface="Arial MT"/>
            </a:endParaRPr>
          </a:p>
          <a:p>
            <a:pPr marL="12700" marR="161925" indent="-8890" algn="just">
              <a:lnSpc>
                <a:spcPct val="100000"/>
              </a:lnSpc>
              <a:buSzPct val="94117"/>
              <a:buFont typeface="Arial MT"/>
              <a:buChar char="•"/>
              <a:tabLst>
                <a:tab pos="88265" algn="l"/>
              </a:tabLst>
            </a:pPr>
            <a:r>
              <a:rPr sz="1700" b="1" dirty="0">
                <a:latin typeface="Arial"/>
                <a:cs typeface="Arial"/>
              </a:rPr>
              <a:t>	Market</a:t>
            </a:r>
            <a:r>
              <a:rPr sz="1700" b="1" spc="-105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Analysts and</a:t>
            </a:r>
            <a:r>
              <a:rPr sz="1700" b="1" spc="-30" dirty="0">
                <a:latin typeface="Arial"/>
                <a:cs typeface="Arial"/>
              </a:rPr>
              <a:t> </a:t>
            </a:r>
            <a:r>
              <a:rPr sz="1700" b="1" spc="-20" dirty="0">
                <a:latin typeface="Arial"/>
                <a:cs typeface="Arial"/>
              </a:rPr>
              <a:t>Researchers</a:t>
            </a:r>
            <a:r>
              <a:rPr sz="1700" spc="-20" dirty="0">
                <a:latin typeface="Arial MT"/>
                <a:cs typeface="Arial MT"/>
              </a:rPr>
              <a:t>:</a:t>
            </a:r>
            <a:r>
              <a:rPr sz="1700" spc="-9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Analysts</a:t>
            </a:r>
            <a:r>
              <a:rPr sz="1700" spc="-2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and</a:t>
            </a:r>
            <a:r>
              <a:rPr sz="1700" spc="-2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researchers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studying</a:t>
            </a:r>
            <a:r>
              <a:rPr sz="1700" spc="-1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2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automotive </a:t>
            </a:r>
            <a:r>
              <a:rPr sz="1700" dirty="0">
                <a:latin typeface="Arial MT"/>
                <a:cs typeface="Arial MT"/>
              </a:rPr>
              <a:t>market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can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use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findings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to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understand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broader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trends,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forecast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future</a:t>
            </a:r>
            <a:r>
              <a:rPr sz="1700" spc="-2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developments, </a:t>
            </a:r>
            <a:r>
              <a:rPr sz="1700" dirty="0">
                <a:latin typeface="Arial MT"/>
                <a:cs typeface="Arial MT"/>
              </a:rPr>
              <a:t>and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provide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advice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to</a:t>
            </a:r>
            <a:r>
              <a:rPr sz="1700" spc="-2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stakeholders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in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2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industry.</a:t>
            </a:r>
            <a:endParaRPr sz="1700">
              <a:latin typeface="Arial MT"/>
              <a:cs typeface="Arial MT"/>
            </a:endParaRPr>
          </a:p>
          <a:p>
            <a:pPr marL="88265" indent="-84455">
              <a:lnSpc>
                <a:spcPct val="100000"/>
              </a:lnSpc>
              <a:buSzPct val="94117"/>
              <a:buFont typeface="Arial MT"/>
              <a:buChar char="•"/>
              <a:tabLst>
                <a:tab pos="88265" algn="l"/>
              </a:tabLst>
            </a:pPr>
            <a:r>
              <a:rPr sz="1700" b="1" dirty="0">
                <a:latin typeface="Arial"/>
                <a:cs typeface="Arial"/>
              </a:rPr>
              <a:t>Financial</a:t>
            </a:r>
            <a:r>
              <a:rPr sz="1700" b="1" spc="-50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Institutions</a:t>
            </a:r>
            <a:r>
              <a:rPr sz="1700" dirty="0">
                <a:latin typeface="Arial MT"/>
                <a:cs typeface="Arial MT"/>
              </a:rPr>
              <a:t>: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Banks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and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lending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institutions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can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benefit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from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understanding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spc="-25" dirty="0">
                <a:latin typeface="Arial MT"/>
                <a:cs typeface="Arial MT"/>
              </a:rPr>
              <a:t>car</a:t>
            </a:r>
            <a:endParaRPr sz="1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700" spc="-10" dirty="0">
                <a:latin typeface="Arial MT"/>
                <a:cs typeface="Arial MT"/>
              </a:rPr>
              <a:t>depreciation</a:t>
            </a:r>
            <a:r>
              <a:rPr sz="1700" spc="-2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trends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and</a:t>
            </a:r>
            <a:r>
              <a:rPr sz="1700" spc="-2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market</a:t>
            </a:r>
            <a:r>
              <a:rPr sz="1700" spc="-2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values,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aiding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in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1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valuation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of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car</a:t>
            </a:r>
            <a:r>
              <a:rPr sz="1700" spc="-2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loans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and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leases.</a:t>
            </a:r>
            <a:endParaRPr sz="1700">
              <a:latin typeface="Arial MT"/>
              <a:cs typeface="Arial MT"/>
            </a:endParaRPr>
          </a:p>
          <a:p>
            <a:pPr marL="12700" marR="197485" indent="-8890">
              <a:lnSpc>
                <a:spcPct val="100000"/>
              </a:lnSpc>
              <a:buSzPct val="94117"/>
              <a:buFont typeface="Arial MT"/>
              <a:buChar char="•"/>
              <a:tabLst>
                <a:tab pos="88265" algn="l"/>
              </a:tabLst>
            </a:pPr>
            <a:r>
              <a:rPr sz="1700" b="1" dirty="0">
                <a:latin typeface="Arial"/>
                <a:cs typeface="Arial"/>
              </a:rPr>
              <a:t>	Policy</a:t>
            </a:r>
            <a:r>
              <a:rPr sz="1700" b="1" spc="-40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Makers</a:t>
            </a:r>
            <a:r>
              <a:rPr sz="1700" dirty="0">
                <a:latin typeface="Arial MT"/>
                <a:cs typeface="Arial MT"/>
              </a:rPr>
              <a:t>: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Government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agencies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and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policy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makers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can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use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insights</a:t>
            </a:r>
            <a:r>
              <a:rPr sz="1700" spc="-6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to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inform </a:t>
            </a:r>
            <a:r>
              <a:rPr sz="1700" dirty="0">
                <a:latin typeface="Arial MT"/>
                <a:cs typeface="Arial MT"/>
              </a:rPr>
              <a:t>decisions</a:t>
            </a:r>
            <a:r>
              <a:rPr sz="1700" spc="-8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related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to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transportation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policies,</a:t>
            </a:r>
            <a:r>
              <a:rPr sz="1700" spc="-8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environmental</a:t>
            </a:r>
            <a:r>
              <a:rPr sz="1700" spc="-6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regulations,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and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economic planning.</a:t>
            </a:r>
            <a:endParaRPr sz="1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7420165" y="-4762"/>
            <a:ext cx="4773295" cy="6868159"/>
            <a:chOff x="7420165" y="-4762"/>
            <a:chExt cx="4773295" cy="6868159"/>
          </a:xfrm>
        </p:grpSpPr>
        <p:sp>
          <p:nvSpPr>
            <p:cNvPr id="4" name="object 4"/>
            <p:cNvSpPr/>
            <p:nvPr/>
          </p:nvSpPr>
          <p:spPr>
            <a:xfrm>
              <a:off x="7424928" y="0"/>
              <a:ext cx="4763770" cy="6858634"/>
            </a:xfrm>
            <a:custGeom>
              <a:avLst/>
              <a:gdLst/>
              <a:ahLst/>
              <a:cxnLst/>
              <a:rect l="l" t="t" r="r" b="b"/>
              <a:pathLst>
                <a:path w="4763770" h="6858634">
                  <a:moveTo>
                    <a:pt x="1946148" y="0"/>
                  </a:moveTo>
                  <a:lnTo>
                    <a:pt x="3165348" y="6857999"/>
                  </a:lnTo>
                </a:path>
                <a:path w="4763770" h="6858634">
                  <a:moveTo>
                    <a:pt x="4763516" y="3681983"/>
                  </a:moveTo>
                  <a:lnTo>
                    <a:pt x="0" y="6858570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82100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>
                  <a:moveTo>
                    <a:pt x="3006852" y="0"/>
                  </a:moveTo>
                  <a:lnTo>
                    <a:pt x="2042484" y="0"/>
                  </a:lnTo>
                  <a:lnTo>
                    <a:pt x="0" y="6858000"/>
                  </a:lnTo>
                  <a:lnTo>
                    <a:pt x="3006852" y="6858000"/>
                  </a:lnTo>
                  <a:lnTo>
                    <a:pt x="3006852" y="0"/>
                  </a:lnTo>
                  <a:close/>
                </a:path>
              </a:pathLst>
            </a:custGeom>
            <a:solidFill>
              <a:srgbClr val="5FCAEE">
                <a:alpha val="3607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>
                  <a:moveTo>
                    <a:pt x="2587665" y="0"/>
                  </a:moveTo>
                  <a:lnTo>
                    <a:pt x="0" y="0"/>
                  </a:lnTo>
                  <a:lnTo>
                    <a:pt x="1208191" y="6857999"/>
                  </a:lnTo>
                  <a:lnTo>
                    <a:pt x="2587665" y="6857999"/>
                  </a:lnTo>
                  <a:lnTo>
                    <a:pt x="2587665" y="0"/>
                  </a:lnTo>
                  <a:close/>
                </a:path>
              </a:pathLst>
            </a:custGeom>
            <a:solidFill>
              <a:srgbClr val="5FCAEE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>
                  <a:moveTo>
                    <a:pt x="2851161" y="0"/>
                  </a:moveTo>
                  <a:lnTo>
                    <a:pt x="0" y="0"/>
                  </a:lnTo>
                  <a:lnTo>
                    <a:pt x="2467621" y="6858000"/>
                  </a:lnTo>
                  <a:lnTo>
                    <a:pt x="2851161" y="6858000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17AFE3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>
                  <a:moveTo>
                    <a:pt x="1290828" y="0"/>
                  </a:moveTo>
                  <a:lnTo>
                    <a:pt x="1018959" y="0"/>
                  </a:lnTo>
                  <a:lnTo>
                    <a:pt x="0" y="6858000"/>
                  </a:lnTo>
                  <a:lnTo>
                    <a:pt x="1290828" y="6858000"/>
                  </a:lnTo>
                  <a:lnTo>
                    <a:pt x="1290828" y="0"/>
                  </a:lnTo>
                  <a:close/>
                </a:path>
              </a:pathLst>
            </a:custGeom>
            <a:solidFill>
              <a:srgbClr val="2D83C3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>
                  <a:moveTo>
                    <a:pt x="1248203" y="0"/>
                  </a:moveTo>
                  <a:lnTo>
                    <a:pt x="0" y="0"/>
                  </a:lnTo>
                  <a:lnTo>
                    <a:pt x="1107741" y="6858000"/>
                  </a:lnTo>
                  <a:lnTo>
                    <a:pt x="1248203" y="6858000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226192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372344" y="3590544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/>
          <p:nvPr/>
        </p:nvSpPr>
        <p:spPr>
          <a:xfrm>
            <a:off x="0" y="4012691"/>
            <a:ext cx="448309" cy="2845435"/>
          </a:xfrm>
          <a:custGeom>
            <a:avLst/>
            <a:gdLst/>
            <a:ahLst/>
            <a:cxnLst/>
            <a:rect l="l" t="t" r="r" b="b"/>
            <a:pathLst>
              <a:path w="448309" h="2845434">
                <a:moveTo>
                  <a:pt x="0" y="0"/>
                </a:moveTo>
                <a:lnTo>
                  <a:pt x="0" y="2845307"/>
                </a:lnTo>
                <a:lnTo>
                  <a:pt x="448056" y="2845307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51941" y="6482814"/>
            <a:ext cx="1752600" cy="163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55"/>
              </a:lnSpc>
            </a:pPr>
            <a:r>
              <a:rPr sz="1100" dirty="0">
                <a:solidFill>
                  <a:srgbClr val="2D83C3"/>
                </a:solidFill>
                <a:latin typeface="Trebuchet MS"/>
                <a:cs typeface="Trebuchet MS"/>
              </a:rPr>
              <a:t>7/13/2024</a:t>
            </a:r>
            <a:r>
              <a:rPr sz="1100" spc="140" dirty="0">
                <a:solidFill>
                  <a:srgbClr val="2D83C3"/>
                </a:solidFill>
                <a:latin typeface="Trebuchet MS"/>
                <a:cs typeface="Trebuchet MS"/>
              </a:rPr>
              <a:t>  </a:t>
            </a:r>
            <a:r>
              <a:rPr sz="1100" b="1" dirty="0">
                <a:solidFill>
                  <a:srgbClr val="2D83C3"/>
                </a:solidFill>
                <a:latin typeface="Trebuchet MS"/>
                <a:cs typeface="Trebuchet MS"/>
              </a:rPr>
              <a:t>Annual </a:t>
            </a:r>
            <a:r>
              <a:rPr sz="1100" b="1" spc="-10" dirty="0">
                <a:solidFill>
                  <a:srgbClr val="2D83C3"/>
                </a:solidFill>
                <a:latin typeface="Trebuchet MS"/>
                <a:cs typeface="Trebuchet MS"/>
              </a:rPr>
              <a:t>Review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371326" y="6461556"/>
            <a:ext cx="9906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50" dirty="0">
                <a:solidFill>
                  <a:srgbClr val="2D936B"/>
                </a:solidFill>
                <a:latin typeface="Trebuchet MS"/>
                <a:cs typeface="Trebuchet MS"/>
              </a:rPr>
              <a:t>7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362443" y="443483"/>
            <a:ext cx="363220" cy="361315"/>
          </a:xfrm>
          <a:custGeom>
            <a:avLst/>
            <a:gdLst/>
            <a:ahLst/>
            <a:cxnLst/>
            <a:rect l="l" t="t" r="r" b="b"/>
            <a:pathLst>
              <a:path w="363220" h="361315">
                <a:moveTo>
                  <a:pt x="181355" y="0"/>
                </a:moveTo>
                <a:lnTo>
                  <a:pt x="133129" y="6454"/>
                </a:lnTo>
                <a:lnTo>
                  <a:pt x="89803" y="24666"/>
                </a:lnTo>
                <a:lnTo>
                  <a:pt x="53101" y="52911"/>
                </a:lnTo>
                <a:lnTo>
                  <a:pt x="24750" y="89464"/>
                </a:lnTo>
                <a:lnTo>
                  <a:pt x="6475" y="132600"/>
                </a:lnTo>
                <a:lnTo>
                  <a:pt x="0" y="180593"/>
                </a:lnTo>
                <a:lnTo>
                  <a:pt x="6475" y="228587"/>
                </a:lnTo>
                <a:lnTo>
                  <a:pt x="24750" y="271723"/>
                </a:lnTo>
                <a:lnTo>
                  <a:pt x="53101" y="308276"/>
                </a:lnTo>
                <a:lnTo>
                  <a:pt x="89803" y="336521"/>
                </a:lnTo>
                <a:lnTo>
                  <a:pt x="133129" y="354733"/>
                </a:lnTo>
                <a:lnTo>
                  <a:pt x="181355" y="361188"/>
                </a:lnTo>
                <a:lnTo>
                  <a:pt x="229582" y="354733"/>
                </a:lnTo>
                <a:lnTo>
                  <a:pt x="272908" y="336521"/>
                </a:lnTo>
                <a:lnTo>
                  <a:pt x="309610" y="308276"/>
                </a:lnTo>
                <a:lnTo>
                  <a:pt x="337961" y="271723"/>
                </a:lnTo>
                <a:lnTo>
                  <a:pt x="356236" y="228587"/>
                </a:lnTo>
                <a:lnTo>
                  <a:pt x="362711" y="180593"/>
                </a:lnTo>
                <a:lnTo>
                  <a:pt x="356236" y="132600"/>
                </a:lnTo>
                <a:lnTo>
                  <a:pt x="337961" y="89464"/>
                </a:lnTo>
                <a:lnTo>
                  <a:pt x="309610" y="52911"/>
                </a:lnTo>
                <a:lnTo>
                  <a:pt x="272908" y="24666"/>
                </a:lnTo>
                <a:lnTo>
                  <a:pt x="229582" y="6454"/>
                </a:lnTo>
                <a:lnTo>
                  <a:pt x="181355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1007852" y="5605271"/>
            <a:ext cx="654050" cy="655320"/>
          </a:xfrm>
          <a:custGeom>
            <a:avLst/>
            <a:gdLst/>
            <a:ahLst/>
            <a:cxnLst/>
            <a:rect l="l" t="t" r="r" b="b"/>
            <a:pathLst>
              <a:path w="654050" h="655320">
                <a:moveTo>
                  <a:pt x="326898" y="0"/>
                </a:moveTo>
                <a:lnTo>
                  <a:pt x="278579" y="3552"/>
                </a:lnTo>
                <a:lnTo>
                  <a:pt x="232466" y="13872"/>
                </a:lnTo>
                <a:lnTo>
                  <a:pt x="189063" y="30453"/>
                </a:lnTo>
                <a:lnTo>
                  <a:pt x="148875" y="52787"/>
                </a:lnTo>
                <a:lnTo>
                  <a:pt x="112407" y="80369"/>
                </a:lnTo>
                <a:lnTo>
                  <a:pt x="80164" y="112690"/>
                </a:lnTo>
                <a:lnTo>
                  <a:pt x="52651" y="149245"/>
                </a:lnTo>
                <a:lnTo>
                  <a:pt x="30374" y="189526"/>
                </a:lnTo>
                <a:lnTo>
                  <a:pt x="13836" y="233027"/>
                </a:lnTo>
                <a:lnTo>
                  <a:pt x="3543" y="279240"/>
                </a:lnTo>
                <a:lnTo>
                  <a:pt x="0" y="327659"/>
                </a:lnTo>
                <a:lnTo>
                  <a:pt x="3543" y="376079"/>
                </a:lnTo>
                <a:lnTo>
                  <a:pt x="13836" y="422292"/>
                </a:lnTo>
                <a:lnTo>
                  <a:pt x="30374" y="465793"/>
                </a:lnTo>
                <a:lnTo>
                  <a:pt x="52651" y="506074"/>
                </a:lnTo>
                <a:lnTo>
                  <a:pt x="80164" y="542629"/>
                </a:lnTo>
                <a:lnTo>
                  <a:pt x="112407" y="574950"/>
                </a:lnTo>
                <a:lnTo>
                  <a:pt x="148875" y="602532"/>
                </a:lnTo>
                <a:lnTo>
                  <a:pt x="189063" y="624866"/>
                </a:lnTo>
                <a:lnTo>
                  <a:pt x="232466" y="641447"/>
                </a:lnTo>
                <a:lnTo>
                  <a:pt x="278579" y="651767"/>
                </a:lnTo>
                <a:lnTo>
                  <a:pt x="326898" y="655319"/>
                </a:lnTo>
                <a:lnTo>
                  <a:pt x="375216" y="651767"/>
                </a:lnTo>
                <a:lnTo>
                  <a:pt x="421329" y="641447"/>
                </a:lnTo>
                <a:lnTo>
                  <a:pt x="464732" y="624866"/>
                </a:lnTo>
                <a:lnTo>
                  <a:pt x="504920" y="602532"/>
                </a:lnTo>
                <a:lnTo>
                  <a:pt x="541388" y="574950"/>
                </a:lnTo>
                <a:lnTo>
                  <a:pt x="573631" y="542629"/>
                </a:lnTo>
                <a:lnTo>
                  <a:pt x="601144" y="506074"/>
                </a:lnTo>
                <a:lnTo>
                  <a:pt x="623421" y="465793"/>
                </a:lnTo>
                <a:lnTo>
                  <a:pt x="639959" y="422292"/>
                </a:lnTo>
                <a:lnTo>
                  <a:pt x="650252" y="376079"/>
                </a:lnTo>
                <a:lnTo>
                  <a:pt x="653796" y="327659"/>
                </a:lnTo>
                <a:lnTo>
                  <a:pt x="650252" y="279240"/>
                </a:lnTo>
                <a:lnTo>
                  <a:pt x="639959" y="233027"/>
                </a:lnTo>
                <a:lnTo>
                  <a:pt x="623421" y="189526"/>
                </a:lnTo>
                <a:lnTo>
                  <a:pt x="601144" y="149245"/>
                </a:lnTo>
                <a:lnTo>
                  <a:pt x="573631" y="112690"/>
                </a:lnTo>
                <a:lnTo>
                  <a:pt x="541388" y="80369"/>
                </a:lnTo>
                <a:lnTo>
                  <a:pt x="504920" y="52787"/>
                </a:lnTo>
                <a:lnTo>
                  <a:pt x="464732" y="30453"/>
                </a:lnTo>
                <a:lnTo>
                  <a:pt x="421329" y="13872"/>
                </a:lnTo>
                <a:lnTo>
                  <a:pt x="375216" y="3552"/>
                </a:lnTo>
                <a:lnTo>
                  <a:pt x="326898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83240" y="6132576"/>
            <a:ext cx="251459" cy="251459"/>
          </a:xfrm>
          <a:prstGeom prst="rect">
            <a:avLst/>
          </a:prstGeom>
        </p:spPr>
      </p:pic>
      <p:grpSp>
        <p:nvGrpSpPr>
          <p:cNvPr id="18" name="object 18"/>
          <p:cNvGrpSpPr/>
          <p:nvPr/>
        </p:nvGrpSpPr>
        <p:grpSpPr>
          <a:xfrm>
            <a:off x="50292" y="3820666"/>
            <a:ext cx="4124325" cy="3009900"/>
            <a:chOff x="50292" y="3820666"/>
            <a:chExt cx="4124325" cy="3009900"/>
          </a:xfrm>
        </p:grpSpPr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7868" y="6409944"/>
              <a:ext cx="3706367" cy="29718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292" y="3820666"/>
              <a:ext cx="1728215" cy="3009898"/>
            </a:xfrm>
            <a:prstGeom prst="rect">
              <a:avLst/>
            </a:prstGeom>
          </p:spPr>
        </p:pic>
      </p:grpSp>
      <p:sp>
        <p:nvSpPr>
          <p:cNvPr id="21" name="object 21" descr="$PPTXTitle"/>
          <p:cNvSpPr txBox="1">
            <a:spLocks noGrp="1"/>
          </p:cNvSpPr>
          <p:nvPr>
            <p:ph type="title"/>
          </p:nvPr>
        </p:nvSpPr>
        <p:spPr>
          <a:xfrm>
            <a:off x="739241" y="445084"/>
            <a:ext cx="478155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509" dirty="0"/>
              <a:t>T</a:t>
            </a:r>
            <a:r>
              <a:rPr sz="4800" spc="20" dirty="0"/>
              <a:t>echnol</a:t>
            </a:r>
            <a:r>
              <a:rPr sz="4800" dirty="0"/>
              <a:t>o</a:t>
            </a:r>
            <a:r>
              <a:rPr sz="4800" spc="20" dirty="0"/>
              <a:t>gy</a:t>
            </a:r>
            <a:r>
              <a:rPr sz="4800" spc="-280" dirty="0"/>
              <a:t> </a:t>
            </a:r>
            <a:r>
              <a:rPr sz="4800" spc="-20" dirty="0"/>
              <a:t>Used</a:t>
            </a:r>
            <a:endParaRPr sz="4800"/>
          </a:p>
        </p:txBody>
      </p:sp>
      <p:sp>
        <p:nvSpPr>
          <p:cNvPr id="22" name="object 22"/>
          <p:cNvSpPr txBox="1"/>
          <p:nvPr/>
        </p:nvSpPr>
        <p:spPr>
          <a:xfrm>
            <a:off x="1711832" y="1405890"/>
            <a:ext cx="8417560" cy="5238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059180" indent="-10160">
              <a:lnSpc>
                <a:spcPct val="100000"/>
              </a:lnSpc>
              <a:spcBef>
                <a:spcPts val="100"/>
              </a:spcBef>
              <a:buSzPct val="94444"/>
              <a:buFont typeface="Arial MT"/>
              <a:buChar char="•"/>
              <a:tabLst>
                <a:tab pos="91440" algn="l"/>
              </a:tabLst>
            </a:pPr>
            <a:r>
              <a:rPr sz="1800" b="1" dirty="0">
                <a:latin typeface="Arial"/>
                <a:cs typeface="Arial"/>
              </a:rPr>
              <a:t>	Python</a:t>
            </a:r>
            <a:r>
              <a:rPr sz="1800" dirty="0">
                <a:latin typeface="Arial MT"/>
                <a:cs typeface="Arial MT"/>
              </a:rPr>
              <a:t>: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primary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programming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language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used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data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analysis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and </a:t>
            </a:r>
            <a:r>
              <a:rPr sz="1800" spc="-10" dirty="0">
                <a:latin typeface="Arial MT"/>
                <a:cs typeface="Arial MT"/>
              </a:rPr>
              <a:t>manipulation.</a:t>
            </a:r>
            <a:endParaRPr sz="1800">
              <a:latin typeface="Arial MT"/>
              <a:cs typeface="Arial MT"/>
            </a:endParaRPr>
          </a:p>
          <a:p>
            <a:pPr marL="12700" marR="26670" indent="-10160">
              <a:lnSpc>
                <a:spcPct val="100000"/>
              </a:lnSpc>
              <a:buSzPct val="94444"/>
              <a:buFont typeface="Arial MT"/>
              <a:buChar char="•"/>
              <a:tabLst>
                <a:tab pos="91440" algn="l"/>
              </a:tabLst>
            </a:pPr>
            <a:r>
              <a:rPr sz="1800" b="1" spc="-10" dirty="0">
                <a:latin typeface="Arial"/>
                <a:cs typeface="Arial"/>
              </a:rPr>
              <a:t>	Pandas</a:t>
            </a:r>
            <a:r>
              <a:rPr sz="1800" spc="-10" dirty="0">
                <a:latin typeface="Arial MT"/>
                <a:cs typeface="Arial MT"/>
              </a:rPr>
              <a:t>:</a:t>
            </a:r>
            <a:r>
              <a:rPr sz="1800" spc="-114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1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powerful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data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manipulation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analysis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library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Python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used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data </a:t>
            </a:r>
            <a:r>
              <a:rPr sz="1800" dirty="0">
                <a:latin typeface="Arial MT"/>
                <a:cs typeface="Arial MT"/>
              </a:rPr>
              <a:t>cleaning,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preprocessing,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exploratory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data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analysis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(EDA).</a:t>
            </a:r>
            <a:endParaRPr sz="1800">
              <a:latin typeface="Arial MT"/>
              <a:cs typeface="Arial MT"/>
            </a:endParaRPr>
          </a:p>
          <a:p>
            <a:pPr marL="91440" indent="-88900">
              <a:lnSpc>
                <a:spcPct val="100000"/>
              </a:lnSpc>
              <a:buSzPct val="94444"/>
              <a:buFont typeface="Arial MT"/>
              <a:buChar char="•"/>
              <a:tabLst>
                <a:tab pos="91440" algn="l"/>
              </a:tabLst>
            </a:pPr>
            <a:r>
              <a:rPr sz="1800" b="1" dirty="0">
                <a:latin typeface="Arial"/>
                <a:cs typeface="Arial"/>
              </a:rPr>
              <a:t>NumPy</a:t>
            </a:r>
            <a:r>
              <a:rPr sz="1800" dirty="0">
                <a:latin typeface="Arial MT"/>
                <a:cs typeface="Arial MT"/>
              </a:rPr>
              <a:t>:</a:t>
            </a:r>
            <a:r>
              <a:rPr sz="1800" spc="-1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1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library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numerical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operations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Python,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providing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support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arrays,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matrices,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collection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mathematical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functions.</a:t>
            </a:r>
            <a:endParaRPr sz="1800">
              <a:latin typeface="Arial MT"/>
              <a:cs typeface="Arial MT"/>
            </a:endParaRPr>
          </a:p>
          <a:p>
            <a:pPr marL="12700" marR="445134" indent="-10160">
              <a:lnSpc>
                <a:spcPct val="100000"/>
              </a:lnSpc>
              <a:buSzPct val="94444"/>
              <a:buFont typeface="Arial MT"/>
              <a:buChar char="•"/>
              <a:tabLst>
                <a:tab pos="91440" algn="l"/>
              </a:tabLst>
            </a:pPr>
            <a:r>
              <a:rPr sz="1800" b="1" spc="-10" dirty="0">
                <a:latin typeface="Arial"/>
                <a:cs typeface="Arial"/>
              </a:rPr>
              <a:t>	Matplotlib</a:t>
            </a:r>
            <a:r>
              <a:rPr sz="1800" spc="-10" dirty="0">
                <a:latin typeface="Arial MT"/>
                <a:cs typeface="Arial MT"/>
              </a:rPr>
              <a:t>:</a:t>
            </a:r>
            <a:r>
              <a:rPr sz="1800" spc="-1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1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plotting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library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Python used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creating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static,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interactive,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and </a:t>
            </a:r>
            <a:r>
              <a:rPr sz="1800" dirty="0">
                <a:latin typeface="Arial MT"/>
                <a:cs typeface="Arial MT"/>
              </a:rPr>
              <a:t>animated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visualizations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represent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data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insights.</a:t>
            </a:r>
            <a:endParaRPr sz="1800">
              <a:latin typeface="Arial MT"/>
              <a:cs typeface="Arial MT"/>
            </a:endParaRPr>
          </a:p>
          <a:p>
            <a:pPr marL="12700" marR="80645" indent="-10160">
              <a:lnSpc>
                <a:spcPct val="100000"/>
              </a:lnSpc>
              <a:buSzPct val="94444"/>
              <a:buFont typeface="Arial MT"/>
              <a:buChar char="•"/>
              <a:tabLst>
                <a:tab pos="91440" algn="l"/>
              </a:tabLst>
            </a:pPr>
            <a:r>
              <a:rPr sz="1800" b="1" dirty="0">
                <a:latin typeface="Arial"/>
                <a:cs typeface="Arial"/>
              </a:rPr>
              <a:t>	Jupyter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Notebook</a:t>
            </a:r>
            <a:r>
              <a:rPr sz="1800" spc="-10" dirty="0">
                <a:latin typeface="Arial MT"/>
                <a:cs typeface="Arial MT"/>
              </a:rPr>
              <a:t>:</a:t>
            </a:r>
            <a:r>
              <a:rPr sz="1800" spc="-114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open-</a:t>
            </a:r>
            <a:r>
              <a:rPr sz="1800" dirty="0">
                <a:latin typeface="Arial MT"/>
                <a:cs typeface="Arial MT"/>
              </a:rPr>
              <a:t>source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web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application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allows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creation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and </a:t>
            </a:r>
            <a:r>
              <a:rPr sz="1800" dirty="0">
                <a:latin typeface="Arial MT"/>
                <a:cs typeface="Arial MT"/>
              </a:rPr>
              <a:t>sharing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documents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containing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live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code,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equations,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visualizations,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narrative text.</a:t>
            </a:r>
            <a:endParaRPr sz="1800">
              <a:latin typeface="Arial MT"/>
              <a:cs typeface="Arial MT"/>
            </a:endParaRPr>
          </a:p>
          <a:p>
            <a:pPr marL="12700" marR="202565" indent="-10160">
              <a:lnSpc>
                <a:spcPct val="100000"/>
              </a:lnSpc>
              <a:buSzPct val="94444"/>
              <a:buFont typeface="Arial MT"/>
              <a:buChar char="•"/>
              <a:tabLst>
                <a:tab pos="91440" algn="l"/>
              </a:tabLst>
            </a:pPr>
            <a:r>
              <a:rPr sz="1800" b="1" dirty="0">
                <a:latin typeface="Arial"/>
                <a:cs typeface="Arial"/>
              </a:rPr>
              <a:t>	Seaborn</a:t>
            </a:r>
            <a:r>
              <a:rPr sz="1800" dirty="0">
                <a:latin typeface="Arial MT"/>
                <a:cs typeface="Arial MT"/>
              </a:rPr>
              <a:t>:</a:t>
            </a:r>
            <a:r>
              <a:rPr sz="1800" spc="-1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1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Python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visualization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library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based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on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matplotlib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provides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high-</a:t>
            </a:r>
            <a:r>
              <a:rPr sz="1800" dirty="0">
                <a:latin typeface="Arial MT"/>
                <a:cs typeface="Arial MT"/>
              </a:rPr>
              <a:t>level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interface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drawing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attractive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informative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statistical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graphics.</a:t>
            </a:r>
            <a:endParaRPr sz="1800">
              <a:latin typeface="Arial MT"/>
              <a:cs typeface="Arial MT"/>
            </a:endParaRPr>
          </a:p>
          <a:p>
            <a:pPr marL="12700" marR="5080" indent="-10160">
              <a:lnSpc>
                <a:spcPct val="100000"/>
              </a:lnSpc>
              <a:buSzPct val="94444"/>
              <a:buFont typeface="Arial MT"/>
              <a:buChar char="•"/>
              <a:tabLst>
                <a:tab pos="91440" algn="l"/>
              </a:tabLst>
            </a:pPr>
            <a:r>
              <a:rPr sz="1800" b="1" spc="-10" dirty="0">
                <a:latin typeface="Arial"/>
                <a:cs typeface="Arial"/>
              </a:rPr>
              <a:t>	Scikit-learn</a:t>
            </a:r>
            <a:r>
              <a:rPr sz="1800" spc="-10" dirty="0">
                <a:latin typeface="Arial MT"/>
                <a:cs typeface="Arial MT"/>
              </a:rPr>
              <a:t>:</a:t>
            </a:r>
            <a:r>
              <a:rPr sz="1800" spc="-114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1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machine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learning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library in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Python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used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implementing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machine </a:t>
            </a:r>
            <a:r>
              <a:rPr sz="1800" dirty="0">
                <a:latin typeface="Arial MT"/>
                <a:cs typeface="Arial MT"/>
              </a:rPr>
              <a:t>learning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algorithms,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which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may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utilized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advanced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analysis such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predictive modeling.</a:t>
            </a:r>
            <a:endParaRPr sz="1800">
              <a:latin typeface="Arial MT"/>
              <a:cs typeface="Arial MT"/>
            </a:endParaRPr>
          </a:p>
          <a:p>
            <a:pPr marL="12700" marR="38100" indent="-10160">
              <a:lnSpc>
                <a:spcPct val="100000"/>
              </a:lnSpc>
              <a:spcBef>
                <a:spcPts val="5"/>
              </a:spcBef>
              <a:buSzPct val="94444"/>
              <a:buFont typeface="Arial MT"/>
              <a:buChar char="•"/>
              <a:tabLst>
                <a:tab pos="91440" algn="l"/>
              </a:tabLst>
            </a:pPr>
            <a:r>
              <a:rPr sz="1800" b="1" dirty="0">
                <a:latin typeface="Arial"/>
                <a:cs typeface="Arial"/>
              </a:rPr>
              <a:t>	Google</a:t>
            </a:r>
            <a:r>
              <a:rPr sz="1800" b="1" spc="-7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Colab</a:t>
            </a:r>
            <a:r>
              <a:rPr sz="1800" dirty="0">
                <a:latin typeface="Arial MT"/>
                <a:cs typeface="Arial MT"/>
              </a:rPr>
              <a:t>:</a:t>
            </a:r>
            <a:r>
              <a:rPr sz="1800" spc="-1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1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cloud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service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supports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Jupyter notebooks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provides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free </a:t>
            </a:r>
            <a:r>
              <a:rPr sz="1800" dirty="0">
                <a:latin typeface="Arial MT"/>
                <a:cs typeface="Arial MT"/>
              </a:rPr>
              <a:t>access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computational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resources,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often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used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coding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running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Python notebooks.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1371326" y="6461556"/>
            <a:ext cx="9906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50" dirty="0">
                <a:solidFill>
                  <a:srgbClr val="2D936B"/>
                </a:solidFill>
                <a:latin typeface="Trebuchet MS"/>
                <a:cs typeface="Trebuchet MS"/>
              </a:rPr>
              <a:t>8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354311" y="536447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693407" y="1699260"/>
            <a:ext cx="318770" cy="320040"/>
          </a:xfrm>
          <a:custGeom>
            <a:avLst/>
            <a:gdLst/>
            <a:ahLst/>
            <a:cxnLst/>
            <a:rect l="l" t="t" r="r" b="b"/>
            <a:pathLst>
              <a:path w="318770" h="320039">
                <a:moveTo>
                  <a:pt x="318516" y="0"/>
                </a:moveTo>
                <a:lnTo>
                  <a:pt x="0" y="0"/>
                </a:lnTo>
                <a:lnTo>
                  <a:pt x="0" y="320039"/>
                </a:lnTo>
                <a:lnTo>
                  <a:pt x="318516" y="320039"/>
                </a:lnTo>
                <a:lnTo>
                  <a:pt x="318516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354311" y="5897879"/>
            <a:ext cx="180340" cy="180340"/>
          </a:xfrm>
          <a:custGeom>
            <a:avLst/>
            <a:gdLst/>
            <a:ahLst/>
            <a:cxnLst/>
            <a:rect l="l" t="t" r="r" b="b"/>
            <a:pathLst>
              <a:path w="180340" h="180339">
                <a:moveTo>
                  <a:pt x="179831" y="0"/>
                </a:moveTo>
                <a:lnTo>
                  <a:pt x="0" y="0"/>
                </a:lnTo>
                <a:lnTo>
                  <a:pt x="0" y="179832"/>
                </a:lnTo>
                <a:lnTo>
                  <a:pt x="179831" y="179832"/>
                </a:lnTo>
                <a:lnTo>
                  <a:pt x="179831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4706" y="6472428"/>
            <a:ext cx="238082" cy="192011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0" y="1661160"/>
            <a:ext cx="4404360" cy="5196840"/>
            <a:chOff x="0" y="1661160"/>
            <a:chExt cx="4404360" cy="5196840"/>
          </a:xfrm>
        </p:grpSpPr>
        <p:sp>
          <p:nvSpPr>
            <p:cNvPr id="9" name="object 9"/>
            <p:cNvSpPr/>
            <p:nvPr/>
          </p:nvSpPr>
          <p:spPr>
            <a:xfrm>
              <a:off x="0" y="4012692"/>
              <a:ext cx="448309" cy="2845435"/>
            </a:xfrm>
            <a:custGeom>
              <a:avLst/>
              <a:gdLst/>
              <a:ahLst/>
              <a:cxnLst/>
              <a:rect l="l" t="t" r="r" b="b"/>
              <a:pathLst>
                <a:path w="448309" h="2845434">
                  <a:moveTo>
                    <a:pt x="0" y="0"/>
                  </a:moveTo>
                  <a:lnTo>
                    <a:pt x="0" y="2845307"/>
                  </a:lnTo>
                  <a:lnTo>
                    <a:pt x="448056" y="28453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AEE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492" y="1661160"/>
              <a:ext cx="4277868" cy="3110484"/>
            </a:xfrm>
            <a:prstGeom prst="rect">
              <a:avLst/>
            </a:prstGeom>
          </p:spPr>
        </p:pic>
      </p:grp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8580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EDA</a:t>
            </a:r>
            <a:r>
              <a:rPr sz="4800" spc="-280" dirty="0"/>
              <a:t> </a:t>
            </a:r>
            <a:r>
              <a:rPr sz="4800" spc="-50" dirty="0"/>
              <a:t>RESULTS</a:t>
            </a:r>
            <a:endParaRPr sz="4800"/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497323" y="0"/>
            <a:ext cx="769467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864235" cy="6858000"/>
          </a:xfrm>
          <a:custGeom>
            <a:avLst/>
            <a:gdLst/>
            <a:ahLst/>
            <a:cxnLst/>
            <a:rect l="l" t="t" r="r" b="b"/>
            <a:pathLst>
              <a:path w="864235" h="6858000">
                <a:moveTo>
                  <a:pt x="864108" y="0"/>
                </a:moveTo>
                <a:lnTo>
                  <a:pt x="90271" y="0"/>
                </a:lnTo>
                <a:lnTo>
                  <a:pt x="0" y="889"/>
                </a:lnTo>
                <a:lnTo>
                  <a:pt x="0" y="4012692"/>
                </a:lnTo>
                <a:lnTo>
                  <a:pt x="0" y="5690616"/>
                </a:lnTo>
                <a:lnTo>
                  <a:pt x="0" y="6858000"/>
                </a:lnTo>
                <a:lnTo>
                  <a:pt x="448056" y="6858000"/>
                </a:lnTo>
                <a:lnTo>
                  <a:pt x="129806" y="4837087"/>
                </a:lnTo>
                <a:lnTo>
                  <a:pt x="864108" y="9271"/>
                </a:lnTo>
                <a:lnTo>
                  <a:pt x="864108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371326" y="6461556"/>
            <a:ext cx="9906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50" dirty="0">
                <a:solidFill>
                  <a:srgbClr val="2D936B"/>
                </a:solidFill>
                <a:latin typeface="Trebuchet MS"/>
                <a:cs typeface="Trebuchet MS"/>
              </a:rPr>
              <a:t>9</a:t>
            </a:r>
            <a:endParaRPr sz="110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420165" y="-4762"/>
            <a:ext cx="4773295" cy="6868159"/>
            <a:chOff x="7420165" y="-4762"/>
            <a:chExt cx="4773295" cy="6868159"/>
          </a:xfrm>
        </p:grpSpPr>
        <p:sp>
          <p:nvSpPr>
            <p:cNvPr id="6" name="object 6"/>
            <p:cNvSpPr/>
            <p:nvPr/>
          </p:nvSpPr>
          <p:spPr>
            <a:xfrm>
              <a:off x="9354312" y="536447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42AF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354312" y="5897879"/>
              <a:ext cx="180340" cy="180340"/>
            </a:xfrm>
            <a:custGeom>
              <a:avLst/>
              <a:gdLst/>
              <a:ahLst/>
              <a:cxnLst/>
              <a:rect l="l" t="t" r="r" b="b"/>
              <a:pathLst>
                <a:path w="180340" h="180339">
                  <a:moveTo>
                    <a:pt x="179831" y="0"/>
                  </a:moveTo>
                  <a:lnTo>
                    <a:pt x="0" y="0"/>
                  </a:lnTo>
                  <a:lnTo>
                    <a:pt x="0" y="179832"/>
                  </a:lnTo>
                  <a:lnTo>
                    <a:pt x="179831" y="179832"/>
                  </a:lnTo>
                  <a:lnTo>
                    <a:pt x="179831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424928" y="0"/>
              <a:ext cx="4763770" cy="6858634"/>
            </a:xfrm>
            <a:custGeom>
              <a:avLst/>
              <a:gdLst/>
              <a:ahLst/>
              <a:cxnLst/>
              <a:rect l="l" t="t" r="r" b="b"/>
              <a:pathLst>
                <a:path w="4763770" h="6858634">
                  <a:moveTo>
                    <a:pt x="1946148" y="0"/>
                  </a:moveTo>
                  <a:lnTo>
                    <a:pt x="3165348" y="6857999"/>
                  </a:lnTo>
                </a:path>
                <a:path w="4763770" h="6858634">
                  <a:moveTo>
                    <a:pt x="4763516" y="3681983"/>
                  </a:moveTo>
                  <a:lnTo>
                    <a:pt x="0" y="6858570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182100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>
                  <a:moveTo>
                    <a:pt x="3006852" y="0"/>
                  </a:moveTo>
                  <a:lnTo>
                    <a:pt x="2042484" y="0"/>
                  </a:lnTo>
                  <a:lnTo>
                    <a:pt x="0" y="6858000"/>
                  </a:lnTo>
                  <a:lnTo>
                    <a:pt x="3006852" y="6858000"/>
                  </a:lnTo>
                  <a:lnTo>
                    <a:pt x="3006852" y="0"/>
                  </a:lnTo>
                  <a:close/>
                </a:path>
              </a:pathLst>
            </a:custGeom>
            <a:solidFill>
              <a:srgbClr val="5FCAEE">
                <a:alpha val="3607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>
                  <a:moveTo>
                    <a:pt x="2587665" y="0"/>
                  </a:moveTo>
                  <a:lnTo>
                    <a:pt x="0" y="0"/>
                  </a:lnTo>
                  <a:lnTo>
                    <a:pt x="1208191" y="6857999"/>
                  </a:lnTo>
                  <a:lnTo>
                    <a:pt x="2587665" y="6857999"/>
                  </a:lnTo>
                  <a:lnTo>
                    <a:pt x="2587665" y="0"/>
                  </a:lnTo>
                  <a:close/>
                </a:path>
              </a:pathLst>
            </a:custGeom>
            <a:solidFill>
              <a:srgbClr val="5FCAEE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>
                  <a:moveTo>
                    <a:pt x="2851161" y="0"/>
                  </a:moveTo>
                  <a:lnTo>
                    <a:pt x="0" y="0"/>
                  </a:lnTo>
                  <a:lnTo>
                    <a:pt x="2467621" y="6858000"/>
                  </a:lnTo>
                  <a:lnTo>
                    <a:pt x="2851161" y="6858000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17AFE3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>
                  <a:moveTo>
                    <a:pt x="1290828" y="0"/>
                  </a:moveTo>
                  <a:lnTo>
                    <a:pt x="1018959" y="0"/>
                  </a:lnTo>
                  <a:lnTo>
                    <a:pt x="0" y="6858000"/>
                  </a:lnTo>
                  <a:lnTo>
                    <a:pt x="1290828" y="6858000"/>
                  </a:lnTo>
                  <a:lnTo>
                    <a:pt x="1290828" y="0"/>
                  </a:lnTo>
                  <a:close/>
                </a:path>
              </a:pathLst>
            </a:custGeom>
            <a:solidFill>
              <a:srgbClr val="2D83C3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>
                  <a:moveTo>
                    <a:pt x="1248203" y="0"/>
                  </a:moveTo>
                  <a:lnTo>
                    <a:pt x="0" y="0"/>
                  </a:lnTo>
                  <a:lnTo>
                    <a:pt x="1107741" y="6858000"/>
                  </a:lnTo>
                  <a:lnTo>
                    <a:pt x="1248203" y="6858000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226192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372344" y="3590544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/>
          <p:nvPr/>
        </p:nvSpPr>
        <p:spPr>
          <a:xfrm>
            <a:off x="6693407" y="1699260"/>
            <a:ext cx="318770" cy="320040"/>
          </a:xfrm>
          <a:custGeom>
            <a:avLst/>
            <a:gdLst/>
            <a:ahLst/>
            <a:cxnLst/>
            <a:rect l="l" t="t" r="r" b="b"/>
            <a:pathLst>
              <a:path w="318770" h="320039">
                <a:moveTo>
                  <a:pt x="318516" y="0"/>
                </a:moveTo>
                <a:lnTo>
                  <a:pt x="0" y="0"/>
                </a:lnTo>
                <a:lnTo>
                  <a:pt x="0" y="320039"/>
                </a:lnTo>
                <a:lnTo>
                  <a:pt x="318516" y="320039"/>
                </a:lnTo>
                <a:lnTo>
                  <a:pt x="318516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 descr="$PPTXTitle"/>
          <p:cNvSpPr txBox="1">
            <a:spLocks noGrp="1"/>
          </p:cNvSpPr>
          <p:nvPr>
            <p:ph type="title"/>
          </p:nvPr>
        </p:nvSpPr>
        <p:spPr>
          <a:xfrm>
            <a:off x="6465189" y="2326970"/>
            <a:ext cx="2787650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496695">
              <a:lnSpc>
                <a:spcPct val="100000"/>
              </a:lnSpc>
              <a:spcBef>
                <a:spcPts val="100"/>
              </a:spcBef>
            </a:pPr>
            <a:r>
              <a:rPr sz="5400" spc="-25" dirty="0">
                <a:solidFill>
                  <a:srgbClr val="5FCAEE"/>
                </a:solidFill>
              </a:rPr>
              <a:t>EDA </a:t>
            </a:r>
            <a:r>
              <a:rPr sz="5400" spc="-30" dirty="0">
                <a:solidFill>
                  <a:srgbClr val="5FCAEE"/>
                </a:solidFill>
              </a:rPr>
              <a:t>RESULTS</a:t>
            </a:r>
            <a:endParaRPr sz="5400"/>
          </a:p>
        </p:txBody>
      </p:sp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3457" y="889960"/>
            <a:ext cx="4520008" cy="2882904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60655" y="4998720"/>
            <a:ext cx="276182" cy="94487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72612" y="4286153"/>
            <a:ext cx="1843044" cy="154008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012691"/>
            <a:ext cx="448309" cy="2845435"/>
          </a:xfrm>
          <a:custGeom>
            <a:avLst/>
            <a:gdLst/>
            <a:ahLst/>
            <a:cxnLst/>
            <a:rect l="l" t="t" r="r" b="b"/>
            <a:pathLst>
              <a:path w="448309" h="2845434">
                <a:moveTo>
                  <a:pt x="0" y="0"/>
                </a:moveTo>
                <a:lnTo>
                  <a:pt x="0" y="2845307"/>
                </a:lnTo>
                <a:lnTo>
                  <a:pt x="448056" y="2845307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4706" y="6472428"/>
            <a:ext cx="238082" cy="192011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6159" rIns="0" bIns="0" rtlCol="0">
            <a:spAutoFit/>
          </a:bodyPr>
          <a:lstStyle/>
          <a:p>
            <a:pPr marL="69850">
              <a:lnSpc>
                <a:spcPct val="100000"/>
              </a:lnSpc>
              <a:spcBef>
                <a:spcPts val="100"/>
              </a:spcBef>
            </a:pPr>
            <a:r>
              <a:rPr sz="3600" b="0" dirty="0">
                <a:solidFill>
                  <a:srgbClr val="5FCAEE"/>
                </a:solidFill>
                <a:latin typeface="Trebuchet MS"/>
                <a:cs typeface="Trebuchet MS"/>
              </a:rPr>
              <a:t>EDA</a:t>
            </a:r>
            <a:r>
              <a:rPr sz="3600" b="0" spc="-270" dirty="0">
                <a:solidFill>
                  <a:srgbClr val="5FCAEE"/>
                </a:solidFill>
                <a:latin typeface="Trebuchet MS"/>
                <a:cs typeface="Trebuchet MS"/>
              </a:rPr>
              <a:t> </a:t>
            </a:r>
            <a:r>
              <a:rPr sz="3600" b="0" spc="-45" dirty="0">
                <a:solidFill>
                  <a:srgbClr val="5FCAEE"/>
                </a:solidFill>
                <a:latin typeface="Trebuchet MS"/>
                <a:cs typeface="Trebuchet MS"/>
              </a:rPr>
              <a:t>RESULTS</a:t>
            </a:r>
            <a:endParaRPr sz="3600">
              <a:latin typeface="Trebuchet MS"/>
              <a:cs typeface="Trebuchet MS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0050" y="2831277"/>
            <a:ext cx="4040858" cy="308536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19700" y="2737104"/>
            <a:ext cx="3922776" cy="3305555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012691"/>
            <a:ext cx="448309" cy="2845435"/>
          </a:xfrm>
          <a:custGeom>
            <a:avLst/>
            <a:gdLst/>
            <a:ahLst/>
            <a:cxnLst/>
            <a:rect l="l" t="t" r="r" b="b"/>
            <a:pathLst>
              <a:path w="448309" h="2845434">
                <a:moveTo>
                  <a:pt x="0" y="0"/>
                </a:moveTo>
                <a:lnTo>
                  <a:pt x="0" y="2845307"/>
                </a:lnTo>
                <a:lnTo>
                  <a:pt x="448056" y="2845307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4706" y="6472428"/>
            <a:ext cx="238082" cy="192011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6159" rIns="0" bIns="0" rtlCol="0">
            <a:spAutoFit/>
          </a:bodyPr>
          <a:lstStyle/>
          <a:p>
            <a:pPr marL="69850">
              <a:lnSpc>
                <a:spcPct val="100000"/>
              </a:lnSpc>
              <a:spcBef>
                <a:spcPts val="100"/>
              </a:spcBef>
            </a:pPr>
            <a:r>
              <a:rPr sz="3600" b="0" dirty="0">
                <a:solidFill>
                  <a:srgbClr val="5FCAEE"/>
                </a:solidFill>
                <a:latin typeface="Trebuchet MS"/>
                <a:cs typeface="Trebuchet MS"/>
              </a:rPr>
              <a:t>EDA</a:t>
            </a:r>
            <a:r>
              <a:rPr sz="3600" b="0" spc="-270" dirty="0">
                <a:solidFill>
                  <a:srgbClr val="5FCAEE"/>
                </a:solidFill>
                <a:latin typeface="Trebuchet MS"/>
                <a:cs typeface="Trebuchet MS"/>
              </a:rPr>
              <a:t> </a:t>
            </a:r>
            <a:r>
              <a:rPr sz="3600" b="0" spc="-45" dirty="0">
                <a:solidFill>
                  <a:srgbClr val="5FCAEE"/>
                </a:solidFill>
                <a:latin typeface="Trebuchet MS"/>
                <a:cs typeface="Trebuchet MS"/>
              </a:rPr>
              <a:t>RESULTS</a:t>
            </a:r>
            <a:endParaRPr sz="3600">
              <a:latin typeface="Trebuchet MS"/>
              <a:cs typeface="Trebuchet MS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5193" y="2810074"/>
            <a:ext cx="3991710" cy="313772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26735" y="2737104"/>
            <a:ext cx="4108704" cy="3305555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012691"/>
            <a:ext cx="448309" cy="2845435"/>
          </a:xfrm>
          <a:custGeom>
            <a:avLst/>
            <a:gdLst/>
            <a:ahLst/>
            <a:cxnLst/>
            <a:rect l="l" t="t" r="r" b="b"/>
            <a:pathLst>
              <a:path w="448309" h="2845434">
                <a:moveTo>
                  <a:pt x="0" y="0"/>
                </a:moveTo>
                <a:lnTo>
                  <a:pt x="0" y="2845307"/>
                </a:lnTo>
                <a:lnTo>
                  <a:pt x="448056" y="2845307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4706" y="6472428"/>
            <a:ext cx="238082" cy="192011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6159" rIns="0" bIns="0" rtlCol="0">
            <a:spAutoFit/>
          </a:bodyPr>
          <a:lstStyle/>
          <a:p>
            <a:pPr marL="69850">
              <a:lnSpc>
                <a:spcPct val="100000"/>
              </a:lnSpc>
              <a:spcBef>
                <a:spcPts val="100"/>
              </a:spcBef>
            </a:pPr>
            <a:r>
              <a:rPr sz="3600" b="0" dirty="0">
                <a:solidFill>
                  <a:srgbClr val="5FCAEE"/>
                </a:solidFill>
                <a:latin typeface="Trebuchet MS"/>
                <a:cs typeface="Trebuchet MS"/>
              </a:rPr>
              <a:t>EDA</a:t>
            </a:r>
            <a:r>
              <a:rPr sz="3600" b="0" spc="-270" dirty="0">
                <a:solidFill>
                  <a:srgbClr val="5FCAEE"/>
                </a:solidFill>
                <a:latin typeface="Trebuchet MS"/>
                <a:cs typeface="Trebuchet MS"/>
              </a:rPr>
              <a:t> </a:t>
            </a:r>
            <a:r>
              <a:rPr sz="3600" b="0" spc="-45" dirty="0">
                <a:solidFill>
                  <a:srgbClr val="5FCAEE"/>
                </a:solidFill>
                <a:latin typeface="Trebuchet MS"/>
                <a:cs typeface="Trebuchet MS"/>
              </a:rPr>
              <a:t>RESULTS</a:t>
            </a:r>
            <a:endParaRPr sz="3600">
              <a:latin typeface="Trebuchet MS"/>
              <a:cs typeface="Trebuchet MS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9450" y="2902389"/>
            <a:ext cx="4049421" cy="29433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88635" y="2798064"/>
            <a:ext cx="4184904" cy="3183636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012691"/>
            <a:ext cx="448309" cy="2845435"/>
          </a:xfrm>
          <a:custGeom>
            <a:avLst/>
            <a:gdLst/>
            <a:ahLst/>
            <a:cxnLst/>
            <a:rect l="l" t="t" r="r" b="b"/>
            <a:pathLst>
              <a:path w="448309" h="2845434">
                <a:moveTo>
                  <a:pt x="0" y="0"/>
                </a:moveTo>
                <a:lnTo>
                  <a:pt x="0" y="2845307"/>
                </a:lnTo>
                <a:lnTo>
                  <a:pt x="448056" y="2845307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1941" y="6482814"/>
            <a:ext cx="1752600" cy="163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55"/>
              </a:lnSpc>
            </a:pPr>
            <a:r>
              <a:rPr sz="1100" dirty="0">
                <a:solidFill>
                  <a:srgbClr val="2D83C3"/>
                </a:solidFill>
                <a:latin typeface="Trebuchet MS"/>
                <a:cs typeface="Trebuchet MS"/>
              </a:rPr>
              <a:t>7/13/2024</a:t>
            </a:r>
            <a:r>
              <a:rPr sz="1100" spc="140" dirty="0">
                <a:solidFill>
                  <a:srgbClr val="2D83C3"/>
                </a:solidFill>
                <a:latin typeface="Trebuchet MS"/>
                <a:cs typeface="Trebuchet MS"/>
              </a:rPr>
              <a:t>  </a:t>
            </a:r>
            <a:r>
              <a:rPr sz="1100" b="1" dirty="0">
                <a:solidFill>
                  <a:srgbClr val="2D83C3"/>
                </a:solidFill>
                <a:latin typeface="Trebuchet MS"/>
                <a:cs typeface="Trebuchet MS"/>
              </a:rPr>
              <a:t>Annual </a:t>
            </a:r>
            <a:r>
              <a:rPr sz="1100" b="1" spc="-10" dirty="0">
                <a:solidFill>
                  <a:srgbClr val="2D83C3"/>
                </a:solidFill>
                <a:latin typeface="Trebuchet MS"/>
                <a:cs typeface="Trebuchet MS"/>
              </a:rPr>
              <a:t>Review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354311" y="536447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693407" y="1699260"/>
            <a:ext cx="318770" cy="320040"/>
          </a:xfrm>
          <a:custGeom>
            <a:avLst/>
            <a:gdLst/>
            <a:ahLst/>
            <a:cxnLst/>
            <a:rect l="l" t="t" r="r" b="b"/>
            <a:pathLst>
              <a:path w="318770" h="320039">
                <a:moveTo>
                  <a:pt x="318516" y="0"/>
                </a:moveTo>
                <a:lnTo>
                  <a:pt x="0" y="0"/>
                </a:lnTo>
                <a:lnTo>
                  <a:pt x="0" y="320039"/>
                </a:lnTo>
                <a:lnTo>
                  <a:pt x="318516" y="320039"/>
                </a:lnTo>
                <a:lnTo>
                  <a:pt x="318516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354311" y="5897879"/>
            <a:ext cx="180340" cy="180340"/>
          </a:xfrm>
          <a:custGeom>
            <a:avLst/>
            <a:gdLst/>
            <a:ahLst/>
            <a:cxnLst/>
            <a:rect l="l" t="t" r="r" b="b"/>
            <a:pathLst>
              <a:path w="180340" h="180339">
                <a:moveTo>
                  <a:pt x="179831" y="0"/>
                </a:moveTo>
                <a:lnTo>
                  <a:pt x="0" y="0"/>
                </a:lnTo>
                <a:lnTo>
                  <a:pt x="0" y="179832"/>
                </a:lnTo>
                <a:lnTo>
                  <a:pt x="179831" y="179832"/>
                </a:lnTo>
                <a:lnTo>
                  <a:pt x="179831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4706" y="6472428"/>
            <a:ext cx="238082" cy="192011"/>
          </a:xfrm>
          <a:prstGeom prst="rect">
            <a:avLst/>
          </a:prstGeom>
        </p:spPr>
      </p:pic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8580">
              <a:lnSpc>
                <a:spcPct val="100000"/>
              </a:lnSpc>
              <a:spcBef>
                <a:spcPts val="95"/>
              </a:spcBef>
            </a:pPr>
            <a:r>
              <a:rPr dirty="0"/>
              <a:t>EDA</a:t>
            </a:r>
            <a:r>
              <a:rPr spc="-325" dirty="0"/>
              <a:t> </a:t>
            </a:r>
            <a:r>
              <a:rPr spc="-35" dirty="0"/>
              <a:t>RESULTS</a:t>
            </a: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986026"/>
            <a:ext cx="12191999" cy="5858254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012691"/>
            <a:ext cx="448309" cy="2845435"/>
          </a:xfrm>
          <a:custGeom>
            <a:avLst/>
            <a:gdLst/>
            <a:ahLst/>
            <a:cxnLst/>
            <a:rect l="l" t="t" r="r" b="b"/>
            <a:pathLst>
              <a:path w="448309" h="2845434">
                <a:moveTo>
                  <a:pt x="0" y="0"/>
                </a:moveTo>
                <a:lnTo>
                  <a:pt x="0" y="2845307"/>
                </a:lnTo>
                <a:lnTo>
                  <a:pt x="448056" y="2845307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1941" y="6482814"/>
            <a:ext cx="1752600" cy="163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55"/>
              </a:lnSpc>
            </a:pPr>
            <a:r>
              <a:rPr sz="1100" dirty="0">
                <a:solidFill>
                  <a:srgbClr val="2D83C3"/>
                </a:solidFill>
                <a:latin typeface="Trebuchet MS"/>
                <a:cs typeface="Trebuchet MS"/>
              </a:rPr>
              <a:t>7/13/2024</a:t>
            </a:r>
            <a:r>
              <a:rPr sz="1100" spc="140" dirty="0">
                <a:solidFill>
                  <a:srgbClr val="2D83C3"/>
                </a:solidFill>
                <a:latin typeface="Trebuchet MS"/>
                <a:cs typeface="Trebuchet MS"/>
              </a:rPr>
              <a:t>  </a:t>
            </a:r>
            <a:r>
              <a:rPr sz="1100" b="1" dirty="0">
                <a:solidFill>
                  <a:srgbClr val="2D83C3"/>
                </a:solidFill>
                <a:latin typeface="Trebuchet MS"/>
                <a:cs typeface="Trebuchet MS"/>
              </a:rPr>
              <a:t>Annual </a:t>
            </a:r>
            <a:r>
              <a:rPr sz="1100" b="1" spc="-10" dirty="0">
                <a:solidFill>
                  <a:srgbClr val="2D83C3"/>
                </a:solidFill>
                <a:latin typeface="Trebuchet MS"/>
                <a:cs typeface="Trebuchet MS"/>
              </a:rPr>
              <a:t>Review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354311" y="536447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693407" y="1699260"/>
            <a:ext cx="318770" cy="320040"/>
          </a:xfrm>
          <a:custGeom>
            <a:avLst/>
            <a:gdLst/>
            <a:ahLst/>
            <a:cxnLst/>
            <a:rect l="l" t="t" r="r" b="b"/>
            <a:pathLst>
              <a:path w="318770" h="320039">
                <a:moveTo>
                  <a:pt x="318516" y="0"/>
                </a:moveTo>
                <a:lnTo>
                  <a:pt x="0" y="0"/>
                </a:lnTo>
                <a:lnTo>
                  <a:pt x="0" y="320039"/>
                </a:lnTo>
                <a:lnTo>
                  <a:pt x="318516" y="320039"/>
                </a:lnTo>
                <a:lnTo>
                  <a:pt x="318516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354311" y="5897879"/>
            <a:ext cx="180340" cy="180340"/>
          </a:xfrm>
          <a:custGeom>
            <a:avLst/>
            <a:gdLst/>
            <a:ahLst/>
            <a:cxnLst/>
            <a:rect l="l" t="t" r="r" b="b"/>
            <a:pathLst>
              <a:path w="180340" h="180339">
                <a:moveTo>
                  <a:pt x="179831" y="0"/>
                </a:moveTo>
                <a:lnTo>
                  <a:pt x="0" y="0"/>
                </a:lnTo>
                <a:lnTo>
                  <a:pt x="0" y="179832"/>
                </a:lnTo>
                <a:lnTo>
                  <a:pt x="179831" y="179832"/>
                </a:lnTo>
                <a:lnTo>
                  <a:pt x="179831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4706" y="6472428"/>
            <a:ext cx="238082" cy="192011"/>
          </a:xfrm>
          <a:prstGeom prst="rect">
            <a:avLst/>
          </a:prstGeom>
        </p:spPr>
      </p:pic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8580">
              <a:lnSpc>
                <a:spcPct val="100000"/>
              </a:lnSpc>
              <a:spcBef>
                <a:spcPts val="95"/>
              </a:spcBef>
            </a:pPr>
            <a:r>
              <a:rPr dirty="0"/>
              <a:t>EDA</a:t>
            </a:r>
            <a:r>
              <a:rPr spc="-325" dirty="0"/>
              <a:t> </a:t>
            </a:r>
            <a:r>
              <a:rPr spc="-35" dirty="0"/>
              <a:t>RESULTS</a:t>
            </a: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202434"/>
            <a:ext cx="12191999" cy="5655563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012691"/>
            <a:ext cx="448309" cy="2845435"/>
          </a:xfrm>
          <a:custGeom>
            <a:avLst/>
            <a:gdLst/>
            <a:ahLst/>
            <a:cxnLst/>
            <a:rect l="l" t="t" r="r" b="b"/>
            <a:pathLst>
              <a:path w="448309" h="2845434">
                <a:moveTo>
                  <a:pt x="0" y="0"/>
                </a:moveTo>
                <a:lnTo>
                  <a:pt x="0" y="2845307"/>
                </a:lnTo>
                <a:lnTo>
                  <a:pt x="448056" y="2845307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47116" y="3467100"/>
            <a:ext cx="457200" cy="396240"/>
          </a:xfrm>
          <a:custGeom>
            <a:avLst/>
            <a:gdLst/>
            <a:ahLst/>
            <a:cxnLst/>
            <a:rect l="l" t="t" r="r" b="b"/>
            <a:pathLst>
              <a:path w="457200" h="396239">
                <a:moveTo>
                  <a:pt x="358140" y="0"/>
                </a:moveTo>
                <a:lnTo>
                  <a:pt x="99060" y="0"/>
                </a:lnTo>
                <a:lnTo>
                  <a:pt x="0" y="198119"/>
                </a:lnTo>
                <a:lnTo>
                  <a:pt x="99060" y="396239"/>
                </a:lnTo>
                <a:lnTo>
                  <a:pt x="358140" y="396239"/>
                </a:lnTo>
                <a:lnTo>
                  <a:pt x="457200" y="198119"/>
                </a:lnTo>
                <a:lnTo>
                  <a:pt x="358140" y="0"/>
                </a:lnTo>
                <a:close/>
              </a:path>
            </a:pathLst>
          </a:custGeom>
          <a:solidFill>
            <a:srgbClr val="5FCAEE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10882883" y="2202179"/>
            <a:ext cx="588645" cy="501650"/>
            <a:chOff x="10882883" y="2202179"/>
            <a:chExt cx="588645" cy="501650"/>
          </a:xfrm>
        </p:grpSpPr>
        <p:sp>
          <p:nvSpPr>
            <p:cNvPr id="6" name="object 6"/>
            <p:cNvSpPr/>
            <p:nvPr/>
          </p:nvSpPr>
          <p:spPr>
            <a:xfrm>
              <a:off x="11113007" y="2394203"/>
              <a:ext cx="358140" cy="309880"/>
            </a:xfrm>
            <a:custGeom>
              <a:avLst/>
              <a:gdLst/>
              <a:ahLst/>
              <a:cxnLst/>
              <a:rect l="l" t="t" r="r" b="b"/>
              <a:pathLst>
                <a:path w="358140" h="309880">
                  <a:moveTo>
                    <a:pt x="280797" y="0"/>
                  </a:moveTo>
                  <a:lnTo>
                    <a:pt x="77343" y="0"/>
                  </a:lnTo>
                  <a:lnTo>
                    <a:pt x="0" y="154686"/>
                  </a:lnTo>
                  <a:lnTo>
                    <a:pt x="77343" y="309372"/>
                  </a:lnTo>
                  <a:lnTo>
                    <a:pt x="280797" y="309372"/>
                  </a:lnTo>
                  <a:lnTo>
                    <a:pt x="358140" y="154686"/>
                  </a:lnTo>
                  <a:lnTo>
                    <a:pt x="280797" y="0"/>
                  </a:lnTo>
                  <a:close/>
                </a:path>
              </a:pathLst>
            </a:custGeom>
            <a:solidFill>
              <a:srgbClr val="2D83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82883" y="2202179"/>
              <a:ext cx="230124" cy="199644"/>
            </a:xfrm>
            <a:prstGeom prst="rect">
              <a:avLst/>
            </a:prstGeom>
          </p:spPr>
        </p:pic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2562605" y="642061"/>
            <a:ext cx="7077075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Code</a:t>
            </a:r>
            <a:r>
              <a:rPr spc="-90" dirty="0"/>
              <a:t> </a:t>
            </a:r>
            <a:r>
              <a:rPr dirty="0"/>
              <a:t>Execution</a:t>
            </a:r>
            <a:r>
              <a:rPr spc="-85" dirty="0"/>
              <a:t> </a:t>
            </a:r>
            <a:r>
              <a:rPr dirty="0"/>
              <a:t>&amp;</a:t>
            </a:r>
            <a:r>
              <a:rPr spc="-95" dirty="0"/>
              <a:t> </a:t>
            </a:r>
            <a:r>
              <a:rPr dirty="0"/>
              <a:t>Data</a:t>
            </a:r>
            <a:r>
              <a:rPr spc="-100" dirty="0"/>
              <a:t> </a:t>
            </a:r>
            <a:r>
              <a:rPr spc="-20" dirty="0"/>
              <a:t>Sets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748021" y="4669916"/>
            <a:ext cx="49644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876800" algn="l"/>
              </a:tabLst>
            </a:pPr>
            <a:r>
              <a:rPr sz="1600" spc="-50" dirty="0">
                <a:latin typeface="Trebuchet MS"/>
                <a:cs typeface="Trebuchet MS"/>
              </a:rPr>
              <a:t>.</a:t>
            </a:r>
            <a:r>
              <a:rPr sz="1600" dirty="0">
                <a:latin typeface="Trebuchet MS"/>
                <a:cs typeface="Trebuchet MS"/>
              </a:rPr>
              <a:t>	</a:t>
            </a:r>
            <a:r>
              <a:rPr sz="1600" spc="-50" dirty="0">
                <a:latin typeface="Trebuchet MS"/>
                <a:cs typeface="Trebuchet MS"/>
              </a:rPr>
              <a:t>.</a:t>
            </a:r>
            <a:endParaRPr sz="1600">
              <a:latin typeface="Trebuchet MS"/>
              <a:cs typeface="Trebuchet MS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14706" y="6472428"/>
            <a:ext cx="238082" cy="192011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2050542" y="1952218"/>
            <a:ext cx="7915275" cy="2616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89355" marR="1178560" indent="2237105">
              <a:lnSpc>
                <a:spcPct val="141600"/>
              </a:lnSpc>
              <a:spcBef>
                <a:spcPts val="100"/>
              </a:spcBef>
            </a:pPr>
            <a:r>
              <a:rPr sz="2000" b="1" dirty="0">
                <a:solidFill>
                  <a:srgbClr val="2D936B"/>
                </a:solidFill>
                <a:latin typeface="Trebuchet MS"/>
                <a:cs typeface="Trebuchet MS"/>
              </a:rPr>
              <a:t>Git</a:t>
            </a:r>
            <a:r>
              <a:rPr sz="2000" b="1" spc="-30" dirty="0">
                <a:solidFill>
                  <a:srgbClr val="2D936B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2D936B"/>
                </a:solidFill>
                <a:latin typeface="Trebuchet MS"/>
                <a:cs typeface="Trebuchet MS"/>
              </a:rPr>
              <a:t>Hub</a:t>
            </a:r>
            <a:r>
              <a:rPr sz="2000" b="1" spc="-25" dirty="0">
                <a:solidFill>
                  <a:srgbClr val="2D936B"/>
                </a:solidFill>
                <a:latin typeface="Trebuchet MS"/>
                <a:cs typeface="Trebuchet MS"/>
              </a:rPr>
              <a:t> </a:t>
            </a:r>
            <a:r>
              <a:rPr sz="2000" b="1" spc="-50" dirty="0">
                <a:solidFill>
                  <a:srgbClr val="2D936B"/>
                </a:solidFill>
                <a:latin typeface="Trebuchet MS"/>
                <a:cs typeface="Trebuchet MS"/>
              </a:rPr>
              <a:t>– </a:t>
            </a:r>
            <a:r>
              <a:rPr sz="2000" b="1" u="sng" spc="-20" dirty="0">
                <a:solidFill>
                  <a:srgbClr val="3ECDE7"/>
                </a:solidFill>
                <a:uFill>
                  <a:solidFill>
                    <a:srgbClr val="3ECDE7"/>
                  </a:solidFill>
                </a:uFill>
                <a:latin typeface="Trebuchet MS"/>
                <a:cs typeface="Trebuchet MS"/>
                <a:hlinkClick r:id="rId4"/>
              </a:rPr>
              <a:t>VenkataSatyaSrikarParvatha/VOIS</a:t>
            </a:r>
            <a:r>
              <a:rPr sz="2000" b="1" u="sng" spc="80" dirty="0">
                <a:solidFill>
                  <a:srgbClr val="3ECDE7"/>
                </a:solidFill>
                <a:uFill>
                  <a:solidFill>
                    <a:srgbClr val="3ECDE7"/>
                  </a:solidFill>
                </a:uFill>
                <a:latin typeface="Trebuchet MS"/>
                <a:cs typeface="Trebuchet MS"/>
                <a:hlinkClick r:id="rId4"/>
              </a:rPr>
              <a:t> </a:t>
            </a:r>
            <a:r>
              <a:rPr sz="2000" b="1" u="sng" spc="-10" dirty="0">
                <a:solidFill>
                  <a:srgbClr val="3ECDE7"/>
                </a:solidFill>
                <a:uFill>
                  <a:solidFill>
                    <a:srgbClr val="3ECDE7"/>
                  </a:solidFill>
                </a:uFill>
                <a:latin typeface="Trebuchet MS"/>
                <a:cs typeface="Trebuchet MS"/>
                <a:hlinkClick r:id="rId4"/>
              </a:rPr>
              <a:t>(github.com)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080"/>
              </a:spcBef>
            </a:pPr>
            <a:endParaRPr sz="2000">
              <a:latin typeface="Trebuchet MS"/>
              <a:cs typeface="Trebuchet MS"/>
            </a:endParaRPr>
          </a:p>
          <a:p>
            <a:pPr marL="1905" algn="ctr">
              <a:lnSpc>
                <a:spcPct val="100000"/>
              </a:lnSpc>
              <a:tabLst>
                <a:tab pos="344805" algn="l"/>
              </a:tabLst>
            </a:pPr>
            <a:r>
              <a:rPr sz="1600" spc="-50" dirty="0">
                <a:solidFill>
                  <a:srgbClr val="5FCAEE"/>
                </a:solidFill>
                <a:latin typeface="Wingdings"/>
                <a:cs typeface="Wingdings"/>
              </a:rPr>
              <a:t></a:t>
            </a:r>
            <a:r>
              <a:rPr sz="1600" dirty="0">
                <a:solidFill>
                  <a:srgbClr val="5FCAEE"/>
                </a:solidFill>
                <a:latin typeface="Times New Roman"/>
                <a:cs typeface="Times New Roman"/>
              </a:rPr>
              <a:t>	</a:t>
            </a:r>
            <a:r>
              <a:rPr sz="2000" b="1" dirty="0">
                <a:solidFill>
                  <a:srgbClr val="2D936B"/>
                </a:solidFill>
                <a:latin typeface="Trebuchet MS"/>
                <a:cs typeface="Trebuchet MS"/>
              </a:rPr>
              <a:t>Visit</a:t>
            </a:r>
            <a:r>
              <a:rPr sz="2000" b="1" spc="-25" dirty="0">
                <a:solidFill>
                  <a:srgbClr val="2D936B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2D936B"/>
                </a:solidFill>
                <a:latin typeface="Trebuchet MS"/>
                <a:cs typeface="Trebuchet MS"/>
              </a:rPr>
              <a:t>the</a:t>
            </a:r>
            <a:r>
              <a:rPr sz="2000" b="1" spc="-40" dirty="0">
                <a:solidFill>
                  <a:srgbClr val="2D936B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2D936B"/>
                </a:solidFill>
                <a:latin typeface="Trebuchet MS"/>
                <a:cs typeface="Trebuchet MS"/>
              </a:rPr>
              <a:t>link</a:t>
            </a:r>
            <a:r>
              <a:rPr sz="2000" b="1" spc="-25" dirty="0">
                <a:solidFill>
                  <a:srgbClr val="2D936B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2D936B"/>
                </a:solidFill>
                <a:latin typeface="Trebuchet MS"/>
                <a:cs typeface="Trebuchet MS"/>
              </a:rPr>
              <a:t>by</a:t>
            </a:r>
            <a:r>
              <a:rPr sz="2000" b="1" spc="-30" dirty="0">
                <a:solidFill>
                  <a:srgbClr val="2D936B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2D936B"/>
                </a:solidFill>
                <a:latin typeface="Trebuchet MS"/>
                <a:cs typeface="Trebuchet MS"/>
              </a:rPr>
              <a:t>–</a:t>
            </a:r>
            <a:r>
              <a:rPr sz="2000" b="1" spc="-20" dirty="0">
                <a:solidFill>
                  <a:srgbClr val="2D936B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2D936B"/>
                </a:solidFill>
                <a:latin typeface="Trebuchet MS"/>
                <a:cs typeface="Trebuchet MS"/>
              </a:rPr>
              <a:t>ctrl</a:t>
            </a:r>
            <a:r>
              <a:rPr sz="2000" b="1" spc="-25" dirty="0">
                <a:solidFill>
                  <a:srgbClr val="2D936B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2D936B"/>
                </a:solidFill>
                <a:latin typeface="Trebuchet MS"/>
                <a:cs typeface="Trebuchet MS"/>
              </a:rPr>
              <a:t>+</a:t>
            </a:r>
            <a:r>
              <a:rPr sz="2000" b="1" spc="-10" dirty="0">
                <a:solidFill>
                  <a:srgbClr val="2D936B"/>
                </a:solidFill>
                <a:latin typeface="Trebuchet MS"/>
                <a:cs typeface="Trebuchet MS"/>
              </a:rPr>
              <a:t> click</a:t>
            </a:r>
            <a:endParaRPr sz="2000">
              <a:latin typeface="Trebuchet MS"/>
              <a:cs typeface="Trebuchet MS"/>
            </a:endParaRPr>
          </a:p>
          <a:p>
            <a:pPr marL="635" algn="ctr">
              <a:lnSpc>
                <a:spcPct val="100000"/>
              </a:lnSpc>
              <a:spcBef>
                <a:spcPts val="994"/>
              </a:spcBef>
              <a:tabLst>
                <a:tab pos="342900" algn="l"/>
              </a:tabLst>
            </a:pPr>
            <a:r>
              <a:rPr sz="1600" spc="-50" dirty="0">
                <a:solidFill>
                  <a:srgbClr val="5FCAEE"/>
                </a:solidFill>
                <a:latin typeface="Wingdings"/>
                <a:cs typeface="Wingdings"/>
              </a:rPr>
              <a:t></a:t>
            </a:r>
            <a:r>
              <a:rPr sz="1600" dirty="0">
                <a:solidFill>
                  <a:srgbClr val="5FCAEE"/>
                </a:solidFill>
                <a:latin typeface="Times New Roman"/>
                <a:cs typeface="Times New Roman"/>
              </a:rPr>
              <a:t>	</a:t>
            </a:r>
            <a:r>
              <a:rPr sz="2000" b="1" dirty="0">
                <a:solidFill>
                  <a:srgbClr val="2D936B"/>
                </a:solidFill>
                <a:latin typeface="Trebuchet MS"/>
                <a:cs typeface="Trebuchet MS"/>
              </a:rPr>
              <a:t>It</a:t>
            </a:r>
            <a:r>
              <a:rPr sz="2000" b="1" spc="-25" dirty="0">
                <a:solidFill>
                  <a:srgbClr val="2D936B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2D936B"/>
                </a:solidFill>
                <a:latin typeface="Trebuchet MS"/>
                <a:cs typeface="Trebuchet MS"/>
              </a:rPr>
              <a:t>contains</a:t>
            </a:r>
            <a:r>
              <a:rPr sz="2000" b="1" spc="-35" dirty="0">
                <a:solidFill>
                  <a:srgbClr val="2D936B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2D936B"/>
                </a:solidFill>
                <a:latin typeface="Trebuchet MS"/>
                <a:cs typeface="Trebuchet MS"/>
              </a:rPr>
              <a:t>a</a:t>
            </a:r>
            <a:r>
              <a:rPr sz="2000" b="1" spc="-25" dirty="0">
                <a:solidFill>
                  <a:srgbClr val="2D936B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2D936B"/>
                </a:solidFill>
                <a:latin typeface="Trebuchet MS"/>
                <a:cs typeface="Trebuchet MS"/>
              </a:rPr>
              <a:t>reference</a:t>
            </a:r>
            <a:r>
              <a:rPr sz="2000" b="1" spc="-45" dirty="0">
                <a:solidFill>
                  <a:srgbClr val="2D936B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2D936B"/>
                </a:solidFill>
                <a:latin typeface="Trebuchet MS"/>
                <a:cs typeface="Trebuchet MS"/>
              </a:rPr>
              <a:t>data</a:t>
            </a:r>
            <a:r>
              <a:rPr sz="2000" b="1" spc="-20" dirty="0">
                <a:solidFill>
                  <a:srgbClr val="2D936B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2D936B"/>
                </a:solidFill>
                <a:latin typeface="Trebuchet MS"/>
                <a:cs typeface="Trebuchet MS"/>
              </a:rPr>
              <a:t>set</a:t>
            </a:r>
            <a:r>
              <a:rPr sz="2000" b="1" spc="-30" dirty="0">
                <a:solidFill>
                  <a:srgbClr val="2D936B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2D936B"/>
                </a:solidFill>
                <a:latin typeface="Trebuchet MS"/>
                <a:cs typeface="Trebuchet MS"/>
              </a:rPr>
              <a:t>taken</a:t>
            </a:r>
            <a:r>
              <a:rPr sz="2000" b="1" spc="-35" dirty="0">
                <a:solidFill>
                  <a:srgbClr val="2D936B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2D936B"/>
                </a:solidFill>
                <a:latin typeface="Trebuchet MS"/>
                <a:cs typeface="Trebuchet MS"/>
              </a:rPr>
              <a:t>from</a:t>
            </a:r>
            <a:r>
              <a:rPr sz="2000" b="1" spc="-20" dirty="0">
                <a:solidFill>
                  <a:srgbClr val="2D936B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2D936B"/>
                </a:solidFill>
                <a:latin typeface="Trebuchet MS"/>
                <a:cs typeface="Trebuchet MS"/>
              </a:rPr>
              <a:t>car</a:t>
            </a:r>
            <a:r>
              <a:rPr sz="2000" b="1" spc="-75" dirty="0">
                <a:solidFill>
                  <a:srgbClr val="2D936B"/>
                </a:solidFill>
                <a:latin typeface="Trebuchet MS"/>
                <a:cs typeface="Trebuchet MS"/>
              </a:rPr>
              <a:t> </a:t>
            </a:r>
            <a:r>
              <a:rPr sz="2000" b="1" spc="-20" dirty="0">
                <a:solidFill>
                  <a:srgbClr val="2D936B"/>
                </a:solidFill>
                <a:latin typeface="Trebuchet MS"/>
                <a:cs typeface="Trebuchet MS"/>
              </a:rPr>
              <a:t>deko</a:t>
            </a:r>
            <a:endParaRPr sz="20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1000"/>
              </a:spcBef>
              <a:tabLst>
                <a:tab pos="342900" algn="l"/>
              </a:tabLst>
            </a:pPr>
            <a:r>
              <a:rPr sz="1600" spc="-50" dirty="0">
                <a:solidFill>
                  <a:srgbClr val="5FCAEE"/>
                </a:solidFill>
                <a:latin typeface="Wingdings"/>
                <a:cs typeface="Wingdings"/>
              </a:rPr>
              <a:t></a:t>
            </a:r>
            <a:r>
              <a:rPr sz="1600" dirty="0">
                <a:solidFill>
                  <a:srgbClr val="5FCAEE"/>
                </a:solidFill>
                <a:latin typeface="Times New Roman"/>
                <a:cs typeface="Times New Roman"/>
              </a:rPr>
              <a:t>	</a:t>
            </a:r>
            <a:r>
              <a:rPr sz="2000" b="1" dirty="0">
                <a:solidFill>
                  <a:srgbClr val="2D936B"/>
                </a:solidFill>
                <a:latin typeface="Trebuchet MS"/>
                <a:cs typeface="Trebuchet MS"/>
              </a:rPr>
              <a:t>A</a:t>
            </a:r>
            <a:r>
              <a:rPr sz="2000" b="1" spc="-135" dirty="0">
                <a:solidFill>
                  <a:srgbClr val="2D936B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2D936B"/>
                </a:solidFill>
                <a:latin typeface="Trebuchet MS"/>
                <a:cs typeface="Trebuchet MS"/>
              </a:rPr>
              <a:t>Jupyter</a:t>
            </a:r>
            <a:r>
              <a:rPr sz="2000" b="1" spc="-45" dirty="0">
                <a:solidFill>
                  <a:srgbClr val="2D936B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2D936B"/>
                </a:solidFill>
                <a:latin typeface="Trebuchet MS"/>
                <a:cs typeface="Trebuchet MS"/>
              </a:rPr>
              <a:t>Notebook</a:t>
            </a:r>
            <a:r>
              <a:rPr sz="2000" b="1" spc="-25" dirty="0">
                <a:solidFill>
                  <a:srgbClr val="2D936B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2D936B"/>
                </a:solidFill>
                <a:latin typeface="Trebuchet MS"/>
                <a:cs typeface="Trebuchet MS"/>
              </a:rPr>
              <a:t>Executed</a:t>
            </a:r>
            <a:r>
              <a:rPr sz="2000" b="1" spc="-30" dirty="0">
                <a:solidFill>
                  <a:srgbClr val="2D936B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2D936B"/>
                </a:solidFill>
                <a:latin typeface="Trebuchet MS"/>
                <a:cs typeface="Trebuchet MS"/>
              </a:rPr>
              <a:t>python</a:t>
            </a:r>
            <a:r>
              <a:rPr sz="2000" b="1" spc="-35" dirty="0">
                <a:solidFill>
                  <a:srgbClr val="2D936B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2D936B"/>
                </a:solidFill>
                <a:latin typeface="Trebuchet MS"/>
                <a:cs typeface="Trebuchet MS"/>
              </a:rPr>
              <a:t>code</a:t>
            </a:r>
            <a:r>
              <a:rPr sz="2000" b="1" spc="-10" dirty="0">
                <a:solidFill>
                  <a:srgbClr val="2D936B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2D936B"/>
                </a:solidFill>
                <a:latin typeface="Trebuchet MS"/>
                <a:cs typeface="Trebuchet MS"/>
              </a:rPr>
              <a:t>for</a:t>
            </a:r>
            <a:r>
              <a:rPr sz="2000" b="1" spc="-35" dirty="0">
                <a:solidFill>
                  <a:srgbClr val="2D936B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2D936B"/>
                </a:solidFill>
                <a:latin typeface="Trebuchet MS"/>
                <a:cs typeface="Trebuchet MS"/>
              </a:rPr>
              <a:t>the</a:t>
            </a:r>
            <a:r>
              <a:rPr sz="2000" b="1" spc="-35" dirty="0">
                <a:solidFill>
                  <a:srgbClr val="2D936B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2D936B"/>
                </a:solidFill>
                <a:latin typeface="Trebuchet MS"/>
                <a:cs typeface="Trebuchet MS"/>
              </a:rPr>
              <a:t>reference</a:t>
            </a:r>
            <a:r>
              <a:rPr sz="2000" b="1" spc="-45" dirty="0">
                <a:solidFill>
                  <a:srgbClr val="2D936B"/>
                </a:solidFill>
                <a:latin typeface="Trebuchet MS"/>
                <a:cs typeface="Trebuchet MS"/>
              </a:rPr>
              <a:t> </a:t>
            </a:r>
            <a:r>
              <a:rPr sz="2000" b="1" spc="-25" dirty="0">
                <a:solidFill>
                  <a:srgbClr val="2D936B"/>
                </a:solidFill>
                <a:latin typeface="Trebuchet MS"/>
                <a:cs typeface="Trebuchet MS"/>
              </a:rPr>
              <a:t>of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574538" y="4541901"/>
            <a:ext cx="121094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solidFill>
                  <a:srgbClr val="2D936B"/>
                </a:solidFill>
                <a:latin typeface="Trebuchet MS"/>
                <a:cs typeface="Trebuchet MS"/>
              </a:rPr>
              <a:t>execution</a:t>
            </a:r>
            <a:endParaRPr sz="2000">
              <a:latin typeface="Trebuchet MS"/>
              <a:cs typeface="Trebuchet MS"/>
            </a:endParaRPr>
          </a:p>
        </p:txBody>
      </p: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31291" y="83819"/>
            <a:ext cx="1728215" cy="3009900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012691"/>
            <a:ext cx="448309" cy="2845435"/>
          </a:xfrm>
          <a:custGeom>
            <a:avLst/>
            <a:gdLst/>
            <a:ahLst/>
            <a:cxnLst/>
            <a:rect l="l" t="t" r="r" b="b"/>
            <a:pathLst>
              <a:path w="448309" h="2845434">
                <a:moveTo>
                  <a:pt x="0" y="0"/>
                </a:moveTo>
                <a:lnTo>
                  <a:pt x="0" y="2845307"/>
                </a:lnTo>
                <a:lnTo>
                  <a:pt x="448056" y="2845307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47116" y="3467100"/>
            <a:ext cx="457200" cy="396240"/>
          </a:xfrm>
          <a:custGeom>
            <a:avLst/>
            <a:gdLst/>
            <a:ahLst/>
            <a:cxnLst/>
            <a:rect l="l" t="t" r="r" b="b"/>
            <a:pathLst>
              <a:path w="457200" h="396239">
                <a:moveTo>
                  <a:pt x="358140" y="0"/>
                </a:moveTo>
                <a:lnTo>
                  <a:pt x="99060" y="0"/>
                </a:lnTo>
                <a:lnTo>
                  <a:pt x="0" y="198119"/>
                </a:lnTo>
                <a:lnTo>
                  <a:pt x="99060" y="396239"/>
                </a:lnTo>
                <a:lnTo>
                  <a:pt x="358140" y="396239"/>
                </a:lnTo>
                <a:lnTo>
                  <a:pt x="457200" y="198119"/>
                </a:lnTo>
                <a:lnTo>
                  <a:pt x="358140" y="0"/>
                </a:lnTo>
                <a:close/>
              </a:path>
            </a:pathLst>
          </a:custGeom>
          <a:solidFill>
            <a:srgbClr val="5FCAEE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10882883" y="2202179"/>
            <a:ext cx="588645" cy="501650"/>
            <a:chOff x="10882883" y="2202179"/>
            <a:chExt cx="588645" cy="501650"/>
          </a:xfrm>
        </p:grpSpPr>
        <p:sp>
          <p:nvSpPr>
            <p:cNvPr id="6" name="object 6"/>
            <p:cNvSpPr/>
            <p:nvPr/>
          </p:nvSpPr>
          <p:spPr>
            <a:xfrm>
              <a:off x="11113007" y="2394203"/>
              <a:ext cx="358140" cy="309880"/>
            </a:xfrm>
            <a:custGeom>
              <a:avLst/>
              <a:gdLst/>
              <a:ahLst/>
              <a:cxnLst/>
              <a:rect l="l" t="t" r="r" b="b"/>
              <a:pathLst>
                <a:path w="358140" h="309880">
                  <a:moveTo>
                    <a:pt x="280797" y="0"/>
                  </a:moveTo>
                  <a:lnTo>
                    <a:pt x="77343" y="0"/>
                  </a:lnTo>
                  <a:lnTo>
                    <a:pt x="0" y="154686"/>
                  </a:lnTo>
                  <a:lnTo>
                    <a:pt x="77343" y="309372"/>
                  </a:lnTo>
                  <a:lnTo>
                    <a:pt x="280797" y="309372"/>
                  </a:lnTo>
                  <a:lnTo>
                    <a:pt x="358140" y="154686"/>
                  </a:lnTo>
                  <a:lnTo>
                    <a:pt x="280797" y="0"/>
                  </a:lnTo>
                  <a:close/>
                </a:path>
              </a:pathLst>
            </a:custGeom>
            <a:solidFill>
              <a:srgbClr val="2D83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82883" y="2202179"/>
              <a:ext cx="230124" cy="199644"/>
            </a:xfrm>
            <a:prstGeom prst="rect">
              <a:avLst/>
            </a:prstGeom>
          </p:spPr>
        </p:pic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4659884" y="642061"/>
            <a:ext cx="2887345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References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748021" y="4669916"/>
            <a:ext cx="1003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Trebuchet MS"/>
                <a:cs typeface="Trebuchet MS"/>
              </a:rPr>
              <a:t>.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612248" y="4669916"/>
            <a:ext cx="1003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Trebuchet MS"/>
                <a:cs typeface="Trebuchet MS"/>
              </a:rPr>
              <a:t>.</a:t>
            </a:r>
            <a:endParaRPr sz="1600">
              <a:latin typeface="Trebuchet MS"/>
              <a:cs typeface="Trebuchet MS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14706" y="6472428"/>
            <a:ext cx="238082" cy="192011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7175372" y="1388999"/>
            <a:ext cx="2170430" cy="311150"/>
          </a:xfrm>
          <a:custGeom>
            <a:avLst/>
            <a:gdLst/>
            <a:ahLst/>
            <a:cxnLst/>
            <a:rect l="l" t="t" r="r" b="b"/>
            <a:pathLst>
              <a:path w="2170429" h="311150">
                <a:moveTo>
                  <a:pt x="2170176" y="0"/>
                </a:moveTo>
                <a:lnTo>
                  <a:pt x="0" y="0"/>
                </a:lnTo>
                <a:lnTo>
                  <a:pt x="0" y="310896"/>
                </a:lnTo>
                <a:lnTo>
                  <a:pt x="2170176" y="310896"/>
                </a:lnTo>
                <a:lnTo>
                  <a:pt x="217017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385442" y="1365884"/>
            <a:ext cx="8061325" cy="267589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54305" marR="147320" algn="ctr">
              <a:lnSpc>
                <a:spcPts val="2390"/>
              </a:lnSpc>
              <a:spcBef>
                <a:spcPts val="190"/>
              </a:spcBef>
            </a:pPr>
            <a:r>
              <a:rPr sz="2000" b="1" dirty="0">
                <a:solidFill>
                  <a:srgbClr val="2D936B"/>
                </a:solidFill>
                <a:latin typeface="Trebuchet MS"/>
                <a:cs typeface="Trebuchet MS"/>
              </a:rPr>
              <a:t>Medium</a:t>
            </a:r>
            <a:r>
              <a:rPr sz="2000" b="1" spc="-70" dirty="0">
                <a:solidFill>
                  <a:srgbClr val="2D936B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2D936B"/>
                </a:solidFill>
                <a:latin typeface="Trebuchet MS"/>
                <a:cs typeface="Trebuchet MS"/>
              </a:rPr>
              <a:t>-</a:t>
            </a:r>
            <a:r>
              <a:rPr sz="2000" b="1" spc="-50" dirty="0">
                <a:solidFill>
                  <a:srgbClr val="2D936B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232323"/>
                </a:solidFill>
                <a:latin typeface="Calibri"/>
                <a:cs typeface="Calibri"/>
              </a:rPr>
              <a:t>Data</a:t>
            </a:r>
            <a:r>
              <a:rPr sz="2000" b="1" spc="-4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32323"/>
                </a:solidFill>
                <a:latin typeface="Calibri"/>
                <a:cs typeface="Calibri"/>
              </a:rPr>
              <a:t>Analysis</a:t>
            </a:r>
            <a:r>
              <a:rPr sz="2000" b="1" spc="-5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32323"/>
                </a:solidFill>
                <a:latin typeface="Calibri"/>
                <a:cs typeface="Calibri"/>
              </a:rPr>
              <a:t>on</a:t>
            </a:r>
            <a:r>
              <a:rPr sz="2000" b="1" spc="-4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32323"/>
                </a:solidFill>
                <a:latin typeface="Calibri"/>
                <a:cs typeface="Calibri"/>
              </a:rPr>
              <a:t>vehicle</a:t>
            </a:r>
            <a:r>
              <a:rPr sz="2000" b="1" spc="-3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32323"/>
                </a:solidFill>
                <a:latin typeface="Calibri"/>
                <a:cs typeface="Calibri"/>
              </a:rPr>
              <a:t>Dataset</a:t>
            </a:r>
            <a:r>
              <a:rPr sz="2000" b="1" spc="-5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32323"/>
                </a:solidFill>
                <a:latin typeface="Calibri"/>
                <a:cs typeface="Calibri"/>
              </a:rPr>
              <a:t>from</a:t>
            </a:r>
            <a:r>
              <a:rPr sz="2000" b="1" spc="-4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232323"/>
                </a:solidFill>
                <a:latin typeface="Calibri"/>
                <a:cs typeface="Calibri"/>
              </a:rPr>
              <a:t>Car-</a:t>
            </a:r>
            <a:r>
              <a:rPr sz="2000" b="1" dirty="0">
                <a:solidFill>
                  <a:srgbClr val="232323"/>
                </a:solidFill>
                <a:latin typeface="Calibri"/>
                <a:cs typeface="Calibri"/>
              </a:rPr>
              <a:t>Dekho</a:t>
            </a:r>
            <a:r>
              <a:rPr sz="2000" b="1" spc="-3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32323"/>
                </a:solidFill>
                <a:latin typeface="Calibri"/>
                <a:cs typeface="Calibri"/>
              </a:rPr>
              <a:t>using</a:t>
            </a:r>
            <a:r>
              <a:rPr sz="2000" b="1" spc="-6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232323"/>
                </a:solidFill>
                <a:latin typeface="Calibri"/>
                <a:cs typeface="Calibri"/>
              </a:rPr>
              <a:t>Python Libraries.</a:t>
            </a:r>
            <a:endParaRPr sz="2000">
              <a:latin typeface="Calibri"/>
              <a:cs typeface="Calibri"/>
            </a:endParaRPr>
          </a:p>
          <a:p>
            <a:pPr marL="12700" marR="5080" indent="-2540" algn="ctr">
              <a:lnSpc>
                <a:spcPct val="100000"/>
              </a:lnSpc>
              <a:spcBef>
                <a:spcPts val="990"/>
              </a:spcBef>
            </a:pPr>
            <a:r>
              <a:rPr sz="2000" b="1" u="sng" dirty="0">
                <a:solidFill>
                  <a:srgbClr val="3ECDE7"/>
                </a:solidFill>
                <a:uFill>
                  <a:solidFill>
                    <a:srgbClr val="3ECDE7"/>
                  </a:solidFill>
                </a:uFill>
                <a:latin typeface="Trebuchet MS"/>
                <a:cs typeface="Trebuchet MS"/>
                <a:hlinkClick r:id="rId4"/>
              </a:rPr>
              <a:t>Data</a:t>
            </a:r>
            <a:r>
              <a:rPr sz="2000" b="1" u="sng" spc="-145" dirty="0">
                <a:solidFill>
                  <a:srgbClr val="3ECDE7"/>
                </a:solidFill>
                <a:uFill>
                  <a:solidFill>
                    <a:srgbClr val="3ECDE7"/>
                  </a:solidFill>
                </a:uFill>
                <a:latin typeface="Trebuchet MS"/>
                <a:cs typeface="Trebuchet MS"/>
                <a:hlinkClick r:id="rId4"/>
              </a:rPr>
              <a:t> </a:t>
            </a:r>
            <a:r>
              <a:rPr sz="2000" b="1" u="sng" dirty="0">
                <a:solidFill>
                  <a:srgbClr val="3ECDE7"/>
                </a:solidFill>
                <a:uFill>
                  <a:solidFill>
                    <a:srgbClr val="3ECDE7"/>
                  </a:solidFill>
                </a:uFill>
                <a:latin typeface="Trebuchet MS"/>
                <a:cs typeface="Trebuchet MS"/>
                <a:hlinkClick r:id="rId4"/>
              </a:rPr>
              <a:t>Analysis</a:t>
            </a:r>
            <a:r>
              <a:rPr sz="2000" b="1" u="sng" spc="-70" dirty="0">
                <a:solidFill>
                  <a:srgbClr val="3ECDE7"/>
                </a:solidFill>
                <a:uFill>
                  <a:solidFill>
                    <a:srgbClr val="3ECDE7"/>
                  </a:solidFill>
                </a:uFill>
                <a:latin typeface="Trebuchet MS"/>
                <a:cs typeface="Trebuchet MS"/>
                <a:hlinkClick r:id="rId4"/>
              </a:rPr>
              <a:t> </a:t>
            </a:r>
            <a:r>
              <a:rPr sz="2000" b="1" u="sng" dirty="0">
                <a:solidFill>
                  <a:srgbClr val="3ECDE7"/>
                </a:solidFill>
                <a:uFill>
                  <a:solidFill>
                    <a:srgbClr val="3ECDE7"/>
                  </a:solidFill>
                </a:uFill>
                <a:latin typeface="Trebuchet MS"/>
                <a:cs typeface="Trebuchet MS"/>
                <a:hlinkClick r:id="rId4"/>
              </a:rPr>
              <a:t>on</a:t>
            </a:r>
            <a:r>
              <a:rPr sz="2000" b="1" u="sng" spc="-40" dirty="0">
                <a:solidFill>
                  <a:srgbClr val="3ECDE7"/>
                </a:solidFill>
                <a:uFill>
                  <a:solidFill>
                    <a:srgbClr val="3ECDE7"/>
                  </a:solidFill>
                </a:uFill>
                <a:latin typeface="Trebuchet MS"/>
                <a:cs typeface="Trebuchet MS"/>
                <a:hlinkClick r:id="rId4"/>
              </a:rPr>
              <a:t> </a:t>
            </a:r>
            <a:r>
              <a:rPr sz="2000" b="1" u="sng" dirty="0">
                <a:solidFill>
                  <a:srgbClr val="3ECDE7"/>
                </a:solidFill>
                <a:uFill>
                  <a:solidFill>
                    <a:srgbClr val="3ECDE7"/>
                  </a:solidFill>
                </a:uFill>
                <a:latin typeface="Trebuchet MS"/>
                <a:cs typeface="Trebuchet MS"/>
                <a:hlinkClick r:id="rId4"/>
              </a:rPr>
              <a:t>vehicle</a:t>
            </a:r>
            <a:r>
              <a:rPr sz="2000" b="1" u="sng" spc="-25" dirty="0">
                <a:solidFill>
                  <a:srgbClr val="3ECDE7"/>
                </a:solidFill>
                <a:uFill>
                  <a:solidFill>
                    <a:srgbClr val="3ECDE7"/>
                  </a:solidFill>
                </a:uFill>
                <a:latin typeface="Trebuchet MS"/>
                <a:cs typeface="Trebuchet MS"/>
                <a:hlinkClick r:id="rId4"/>
              </a:rPr>
              <a:t> </a:t>
            </a:r>
            <a:r>
              <a:rPr sz="2000" b="1" u="sng" dirty="0">
                <a:solidFill>
                  <a:srgbClr val="3ECDE7"/>
                </a:solidFill>
                <a:uFill>
                  <a:solidFill>
                    <a:srgbClr val="3ECDE7"/>
                  </a:solidFill>
                </a:uFill>
                <a:latin typeface="Trebuchet MS"/>
                <a:cs typeface="Trebuchet MS"/>
                <a:hlinkClick r:id="rId4"/>
              </a:rPr>
              <a:t>Dataset</a:t>
            </a:r>
            <a:r>
              <a:rPr sz="2000" b="1" u="sng" spc="-55" dirty="0">
                <a:solidFill>
                  <a:srgbClr val="3ECDE7"/>
                </a:solidFill>
                <a:uFill>
                  <a:solidFill>
                    <a:srgbClr val="3ECDE7"/>
                  </a:solidFill>
                </a:uFill>
                <a:latin typeface="Trebuchet MS"/>
                <a:cs typeface="Trebuchet MS"/>
                <a:hlinkClick r:id="rId4"/>
              </a:rPr>
              <a:t> </a:t>
            </a:r>
            <a:r>
              <a:rPr sz="2000" b="1" u="sng" dirty="0">
                <a:solidFill>
                  <a:srgbClr val="3ECDE7"/>
                </a:solidFill>
                <a:uFill>
                  <a:solidFill>
                    <a:srgbClr val="3ECDE7"/>
                  </a:solidFill>
                </a:uFill>
                <a:latin typeface="Trebuchet MS"/>
                <a:cs typeface="Trebuchet MS"/>
                <a:hlinkClick r:id="rId4"/>
              </a:rPr>
              <a:t>from</a:t>
            </a:r>
            <a:r>
              <a:rPr sz="2000" b="1" u="sng" spc="-35" dirty="0">
                <a:solidFill>
                  <a:srgbClr val="3ECDE7"/>
                </a:solidFill>
                <a:uFill>
                  <a:solidFill>
                    <a:srgbClr val="3ECDE7"/>
                  </a:solidFill>
                </a:uFill>
                <a:latin typeface="Trebuchet MS"/>
                <a:cs typeface="Trebuchet MS"/>
                <a:hlinkClick r:id="rId4"/>
              </a:rPr>
              <a:t> </a:t>
            </a:r>
            <a:r>
              <a:rPr sz="2000" b="1" u="sng" spc="-10" dirty="0">
                <a:solidFill>
                  <a:srgbClr val="3ECDE7"/>
                </a:solidFill>
                <a:uFill>
                  <a:solidFill>
                    <a:srgbClr val="3ECDE7"/>
                  </a:solidFill>
                </a:uFill>
                <a:latin typeface="Trebuchet MS"/>
                <a:cs typeface="Trebuchet MS"/>
                <a:hlinkClick r:id="rId4"/>
              </a:rPr>
              <a:t>Car-</a:t>
            </a:r>
            <a:r>
              <a:rPr sz="2000" b="1" u="sng" dirty="0">
                <a:solidFill>
                  <a:srgbClr val="3ECDE7"/>
                </a:solidFill>
                <a:uFill>
                  <a:solidFill>
                    <a:srgbClr val="3ECDE7"/>
                  </a:solidFill>
                </a:uFill>
                <a:latin typeface="Trebuchet MS"/>
                <a:cs typeface="Trebuchet MS"/>
                <a:hlinkClick r:id="rId4"/>
              </a:rPr>
              <a:t>Dekho</a:t>
            </a:r>
            <a:r>
              <a:rPr sz="2000" b="1" u="sng" spc="-15" dirty="0">
                <a:solidFill>
                  <a:srgbClr val="3ECDE7"/>
                </a:solidFill>
                <a:uFill>
                  <a:solidFill>
                    <a:srgbClr val="3ECDE7"/>
                  </a:solidFill>
                </a:uFill>
                <a:latin typeface="Trebuchet MS"/>
                <a:cs typeface="Trebuchet MS"/>
                <a:hlinkClick r:id="rId4"/>
              </a:rPr>
              <a:t> </a:t>
            </a:r>
            <a:r>
              <a:rPr sz="2000" b="1" u="sng" dirty="0">
                <a:solidFill>
                  <a:srgbClr val="3ECDE7"/>
                </a:solidFill>
                <a:uFill>
                  <a:solidFill>
                    <a:srgbClr val="3ECDE7"/>
                  </a:solidFill>
                </a:uFill>
                <a:latin typeface="Trebuchet MS"/>
                <a:cs typeface="Trebuchet MS"/>
                <a:hlinkClick r:id="rId4"/>
              </a:rPr>
              <a:t>using</a:t>
            </a:r>
            <a:r>
              <a:rPr sz="2000" b="1" u="sng" spc="-45" dirty="0">
                <a:solidFill>
                  <a:srgbClr val="3ECDE7"/>
                </a:solidFill>
                <a:uFill>
                  <a:solidFill>
                    <a:srgbClr val="3ECDE7"/>
                  </a:solidFill>
                </a:uFill>
                <a:latin typeface="Trebuchet MS"/>
                <a:cs typeface="Trebuchet MS"/>
                <a:hlinkClick r:id="rId4"/>
              </a:rPr>
              <a:t> </a:t>
            </a:r>
            <a:r>
              <a:rPr sz="2000" b="1" u="sng" spc="-10" dirty="0">
                <a:solidFill>
                  <a:srgbClr val="3ECDE7"/>
                </a:solidFill>
                <a:uFill>
                  <a:solidFill>
                    <a:srgbClr val="3ECDE7"/>
                  </a:solidFill>
                </a:uFill>
                <a:latin typeface="Trebuchet MS"/>
                <a:cs typeface="Trebuchet MS"/>
                <a:hlinkClick r:id="rId4"/>
              </a:rPr>
              <a:t>Python</a:t>
            </a:r>
            <a:r>
              <a:rPr sz="2000" b="1" spc="-10" dirty="0">
                <a:solidFill>
                  <a:srgbClr val="3ECDE7"/>
                </a:solidFill>
                <a:latin typeface="Trebuchet MS"/>
                <a:cs typeface="Trebuchet MS"/>
              </a:rPr>
              <a:t> </a:t>
            </a:r>
            <a:r>
              <a:rPr sz="2000" b="1" u="sng" dirty="0">
                <a:solidFill>
                  <a:srgbClr val="3ECDE7"/>
                </a:solidFill>
                <a:uFill>
                  <a:solidFill>
                    <a:srgbClr val="3ECDE7"/>
                  </a:solidFill>
                </a:uFill>
                <a:latin typeface="Trebuchet MS"/>
                <a:cs typeface="Trebuchet MS"/>
                <a:hlinkClick r:id="rId4"/>
              </a:rPr>
              <a:t>Libraries.</a:t>
            </a:r>
            <a:r>
              <a:rPr sz="2000" b="1" u="sng" spc="-60" dirty="0">
                <a:solidFill>
                  <a:srgbClr val="3ECDE7"/>
                </a:solidFill>
                <a:uFill>
                  <a:solidFill>
                    <a:srgbClr val="3ECDE7"/>
                  </a:solidFill>
                </a:uFill>
                <a:latin typeface="Trebuchet MS"/>
                <a:cs typeface="Trebuchet MS"/>
                <a:hlinkClick r:id="rId4"/>
              </a:rPr>
              <a:t> </a:t>
            </a:r>
            <a:r>
              <a:rPr sz="2000" b="1" u="sng" dirty="0">
                <a:solidFill>
                  <a:srgbClr val="3ECDE7"/>
                </a:solidFill>
                <a:uFill>
                  <a:solidFill>
                    <a:srgbClr val="3ECDE7"/>
                  </a:solidFill>
                </a:uFill>
                <a:latin typeface="Trebuchet MS"/>
                <a:cs typeface="Trebuchet MS"/>
                <a:hlinkClick r:id="rId4"/>
              </a:rPr>
              <a:t>|</a:t>
            </a:r>
            <a:r>
              <a:rPr sz="2000" b="1" u="sng" spc="-45" dirty="0">
                <a:solidFill>
                  <a:srgbClr val="3ECDE7"/>
                </a:solidFill>
                <a:uFill>
                  <a:solidFill>
                    <a:srgbClr val="3ECDE7"/>
                  </a:solidFill>
                </a:uFill>
                <a:latin typeface="Trebuchet MS"/>
                <a:cs typeface="Trebuchet MS"/>
                <a:hlinkClick r:id="rId4"/>
              </a:rPr>
              <a:t> </a:t>
            </a:r>
            <a:r>
              <a:rPr sz="2000" b="1" u="sng" dirty="0">
                <a:solidFill>
                  <a:srgbClr val="3ECDE7"/>
                </a:solidFill>
                <a:uFill>
                  <a:solidFill>
                    <a:srgbClr val="3ECDE7"/>
                  </a:solidFill>
                </a:uFill>
                <a:latin typeface="Trebuchet MS"/>
                <a:cs typeface="Trebuchet MS"/>
                <a:hlinkClick r:id="rId4"/>
              </a:rPr>
              <a:t>by</a:t>
            </a:r>
            <a:r>
              <a:rPr sz="2000" b="1" u="sng" spc="-65" dirty="0">
                <a:solidFill>
                  <a:srgbClr val="3ECDE7"/>
                </a:solidFill>
                <a:uFill>
                  <a:solidFill>
                    <a:srgbClr val="3ECDE7"/>
                  </a:solidFill>
                </a:uFill>
                <a:latin typeface="Trebuchet MS"/>
                <a:cs typeface="Trebuchet MS"/>
                <a:hlinkClick r:id="rId4"/>
              </a:rPr>
              <a:t> </a:t>
            </a:r>
            <a:r>
              <a:rPr sz="2000" b="1" u="sng" dirty="0">
                <a:solidFill>
                  <a:srgbClr val="3ECDE7"/>
                </a:solidFill>
                <a:uFill>
                  <a:solidFill>
                    <a:srgbClr val="3ECDE7"/>
                  </a:solidFill>
                </a:uFill>
                <a:latin typeface="Trebuchet MS"/>
                <a:cs typeface="Trebuchet MS"/>
                <a:hlinkClick r:id="rId4"/>
              </a:rPr>
              <a:t>Vikrant</a:t>
            </a:r>
            <a:r>
              <a:rPr sz="2000" b="1" u="sng" spc="-60" dirty="0">
                <a:solidFill>
                  <a:srgbClr val="3ECDE7"/>
                </a:solidFill>
                <a:uFill>
                  <a:solidFill>
                    <a:srgbClr val="3ECDE7"/>
                  </a:solidFill>
                </a:uFill>
                <a:latin typeface="Trebuchet MS"/>
                <a:cs typeface="Trebuchet MS"/>
                <a:hlinkClick r:id="rId4"/>
              </a:rPr>
              <a:t> </a:t>
            </a:r>
            <a:r>
              <a:rPr sz="2000" b="1" u="sng" dirty="0">
                <a:solidFill>
                  <a:srgbClr val="3ECDE7"/>
                </a:solidFill>
                <a:uFill>
                  <a:solidFill>
                    <a:srgbClr val="3ECDE7"/>
                  </a:solidFill>
                </a:uFill>
                <a:latin typeface="Trebuchet MS"/>
                <a:cs typeface="Trebuchet MS"/>
                <a:hlinkClick r:id="rId4"/>
              </a:rPr>
              <a:t>Balwant</a:t>
            </a:r>
            <a:r>
              <a:rPr sz="2000" b="1" u="sng" spc="-80" dirty="0">
                <a:solidFill>
                  <a:srgbClr val="3ECDE7"/>
                </a:solidFill>
                <a:uFill>
                  <a:solidFill>
                    <a:srgbClr val="3ECDE7"/>
                  </a:solidFill>
                </a:uFill>
                <a:latin typeface="Trebuchet MS"/>
                <a:cs typeface="Trebuchet MS"/>
                <a:hlinkClick r:id="rId4"/>
              </a:rPr>
              <a:t> </a:t>
            </a:r>
            <a:r>
              <a:rPr sz="2000" b="1" u="sng" dirty="0">
                <a:solidFill>
                  <a:srgbClr val="3ECDE7"/>
                </a:solidFill>
                <a:uFill>
                  <a:solidFill>
                    <a:srgbClr val="3ECDE7"/>
                  </a:solidFill>
                </a:uFill>
                <a:latin typeface="Trebuchet MS"/>
                <a:cs typeface="Trebuchet MS"/>
                <a:hlinkClick r:id="rId4"/>
              </a:rPr>
              <a:t>Nikumbhe</a:t>
            </a:r>
            <a:r>
              <a:rPr sz="2000" b="1" u="sng" spc="-35" dirty="0">
                <a:solidFill>
                  <a:srgbClr val="3ECDE7"/>
                </a:solidFill>
                <a:uFill>
                  <a:solidFill>
                    <a:srgbClr val="3ECDE7"/>
                  </a:solidFill>
                </a:uFill>
                <a:latin typeface="Trebuchet MS"/>
                <a:cs typeface="Trebuchet MS"/>
                <a:hlinkClick r:id="rId4"/>
              </a:rPr>
              <a:t> </a:t>
            </a:r>
            <a:r>
              <a:rPr sz="2000" b="1" u="sng" dirty="0">
                <a:solidFill>
                  <a:srgbClr val="3ECDE7"/>
                </a:solidFill>
                <a:uFill>
                  <a:solidFill>
                    <a:srgbClr val="3ECDE7"/>
                  </a:solidFill>
                </a:uFill>
                <a:latin typeface="Trebuchet MS"/>
                <a:cs typeface="Trebuchet MS"/>
                <a:hlinkClick r:id="rId4"/>
              </a:rPr>
              <a:t>|</a:t>
            </a:r>
            <a:r>
              <a:rPr sz="2000" b="1" u="sng" spc="-40" dirty="0">
                <a:solidFill>
                  <a:srgbClr val="3ECDE7"/>
                </a:solidFill>
                <a:uFill>
                  <a:solidFill>
                    <a:srgbClr val="3ECDE7"/>
                  </a:solidFill>
                </a:uFill>
                <a:latin typeface="Trebuchet MS"/>
                <a:cs typeface="Trebuchet MS"/>
                <a:hlinkClick r:id="rId4"/>
              </a:rPr>
              <a:t> </a:t>
            </a:r>
            <a:r>
              <a:rPr sz="2000" b="1" u="sng" dirty="0">
                <a:solidFill>
                  <a:srgbClr val="3ECDE7"/>
                </a:solidFill>
                <a:uFill>
                  <a:solidFill>
                    <a:srgbClr val="3ECDE7"/>
                  </a:solidFill>
                </a:uFill>
                <a:latin typeface="Trebuchet MS"/>
                <a:cs typeface="Trebuchet MS"/>
                <a:hlinkClick r:id="rId4"/>
              </a:rPr>
              <a:t>Geek</a:t>
            </a:r>
            <a:r>
              <a:rPr sz="2000" b="1" u="sng" spc="-50" dirty="0">
                <a:solidFill>
                  <a:srgbClr val="3ECDE7"/>
                </a:solidFill>
                <a:uFill>
                  <a:solidFill>
                    <a:srgbClr val="3ECDE7"/>
                  </a:solidFill>
                </a:uFill>
                <a:latin typeface="Trebuchet MS"/>
                <a:cs typeface="Trebuchet MS"/>
                <a:hlinkClick r:id="rId4"/>
              </a:rPr>
              <a:t> </a:t>
            </a:r>
            <a:r>
              <a:rPr sz="2000" b="1" u="sng" dirty="0">
                <a:solidFill>
                  <a:srgbClr val="3ECDE7"/>
                </a:solidFill>
                <a:uFill>
                  <a:solidFill>
                    <a:srgbClr val="3ECDE7"/>
                  </a:solidFill>
                </a:uFill>
                <a:latin typeface="Trebuchet MS"/>
                <a:cs typeface="Trebuchet MS"/>
                <a:hlinkClick r:id="rId4"/>
              </a:rPr>
              <a:t>Culture</a:t>
            </a:r>
            <a:r>
              <a:rPr sz="2000" b="1" u="sng" spc="-55" dirty="0">
                <a:solidFill>
                  <a:srgbClr val="3ECDE7"/>
                </a:solidFill>
                <a:uFill>
                  <a:solidFill>
                    <a:srgbClr val="3ECDE7"/>
                  </a:solidFill>
                </a:uFill>
                <a:latin typeface="Trebuchet MS"/>
                <a:cs typeface="Trebuchet MS"/>
                <a:hlinkClick r:id="rId4"/>
              </a:rPr>
              <a:t> </a:t>
            </a:r>
            <a:r>
              <a:rPr sz="2000" b="1" u="sng" dirty="0">
                <a:solidFill>
                  <a:srgbClr val="3ECDE7"/>
                </a:solidFill>
                <a:uFill>
                  <a:solidFill>
                    <a:srgbClr val="3ECDE7"/>
                  </a:solidFill>
                </a:uFill>
                <a:latin typeface="Trebuchet MS"/>
                <a:cs typeface="Trebuchet MS"/>
                <a:hlinkClick r:id="rId4"/>
              </a:rPr>
              <a:t>|</a:t>
            </a:r>
            <a:r>
              <a:rPr sz="2000" b="1" u="sng" spc="-40" dirty="0">
                <a:solidFill>
                  <a:srgbClr val="3ECDE7"/>
                </a:solidFill>
                <a:uFill>
                  <a:solidFill>
                    <a:srgbClr val="3ECDE7"/>
                  </a:solidFill>
                </a:uFill>
                <a:latin typeface="Trebuchet MS"/>
                <a:cs typeface="Trebuchet MS"/>
                <a:hlinkClick r:id="rId4"/>
              </a:rPr>
              <a:t> </a:t>
            </a:r>
            <a:r>
              <a:rPr sz="2000" b="1" u="sng" spc="-10" dirty="0">
                <a:solidFill>
                  <a:srgbClr val="3ECDE7"/>
                </a:solidFill>
                <a:uFill>
                  <a:solidFill>
                    <a:srgbClr val="3ECDE7"/>
                  </a:solidFill>
                </a:uFill>
                <a:latin typeface="Trebuchet MS"/>
                <a:cs typeface="Trebuchet MS"/>
                <a:hlinkClick r:id="rId4"/>
              </a:rPr>
              <a:t>Medium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020"/>
              </a:spcBef>
            </a:pPr>
            <a:endParaRPr sz="20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solidFill>
                  <a:srgbClr val="2D936B"/>
                </a:solidFill>
                <a:latin typeface="Trebuchet MS"/>
                <a:cs typeface="Trebuchet MS"/>
              </a:rPr>
              <a:t>Vehicle</a:t>
            </a:r>
            <a:r>
              <a:rPr sz="2000" b="1" spc="-65" dirty="0">
                <a:solidFill>
                  <a:srgbClr val="2D936B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2D936B"/>
                </a:solidFill>
                <a:latin typeface="Trebuchet MS"/>
                <a:cs typeface="Trebuchet MS"/>
              </a:rPr>
              <a:t>dataset</a:t>
            </a:r>
            <a:r>
              <a:rPr sz="2000" b="1" spc="-85" dirty="0">
                <a:solidFill>
                  <a:srgbClr val="2D936B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2D936B"/>
                </a:solidFill>
                <a:latin typeface="Trebuchet MS"/>
                <a:cs typeface="Trebuchet MS"/>
              </a:rPr>
              <a:t>from</a:t>
            </a:r>
            <a:r>
              <a:rPr sz="2000" b="1" spc="-45" dirty="0">
                <a:solidFill>
                  <a:srgbClr val="2D936B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2D936B"/>
                </a:solidFill>
                <a:latin typeface="Trebuchet MS"/>
                <a:cs typeface="Trebuchet MS"/>
              </a:rPr>
              <a:t>cardekho</a:t>
            </a:r>
            <a:r>
              <a:rPr sz="2000" b="1" spc="-50" dirty="0">
                <a:solidFill>
                  <a:srgbClr val="2D936B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2D936B"/>
                </a:solidFill>
                <a:latin typeface="Trebuchet MS"/>
                <a:cs typeface="Trebuchet MS"/>
              </a:rPr>
              <a:t>–</a:t>
            </a:r>
            <a:r>
              <a:rPr sz="2000" b="1" spc="-60" dirty="0">
                <a:solidFill>
                  <a:srgbClr val="2D936B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232323"/>
                </a:solidFill>
                <a:latin typeface="Calibri"/>
                <a:cs typeface="Calibri"/>
              </a:rPr>
              <a:t>Kaggle</a:t>
            </a:r>
            <a:r>
              <a:rPr sz="2000" b="1" spc="-3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32323"/>
                </a:solidFill>
                <a:latin typeface="Calibri"/>
                <a:cs typeface="Calibri"/>
              </a:rPr>
              <a:t>Data</a:t>
            </a:r>
            <a:r>
              <a:rPr sz="2000" b="1" spc="-3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000" b="1" spc="-20" dirty="0">
                <a:solidFill>
                  <a:srgbClr val="232323"/>
                </a:solidFill>
                <a:latin typeface="Calibri"/>
                <a:cs typeface="Calibri"/>
              </a:rPr>
              <a:t>Set.</a:t>
            </a:r>
            <a:endParaRPr sz="2000">
              <a:latin typeface="Calibri"/>
              <a:cs typeface="Calibri"/>
            </a:endParaRPr>
          </a:p>
          <a:p>
            <a:pPr marL="635" algn="ctr">
              <a:lnSpc>
                <a:spcPct val="100000"/>
              </a:lnSpc>
              <a:spcBef>
                <a:spcPts val="1055"/>
              </a:spcBef>
            </a:pPr>
            <a:r>
              <a:rPr sz="2000" b="1" u="sng" dirty="0">
                <a:solidFill>
                  <a:srgbClr val="3ECDE7"/>
                </a:solidFill>
                <a:uFill>
                  <a:solidFill>
                    <a:srgbClr val="3ECDE7"/>
                  </a:solidFill>
                </a:uFill>
                <a:latin typeface="Trebuchet MS"/>
                <a:cs typeface="Trebuchet MS"/>
                <a:hlinkClick r:id="rId5"/>
              </a:rPr>
              <a:t>Vehicle</a:t>
            </a:r>
            <a:r>
              <a:rPr sz="2000" b="1" u="sng" spc="-70" dirty="0">
                <a:solidFill>
                  <a:srgbClr val="3ECDE7"/>
                </a:solidFill>
                <a:uFill>
                  <a:solidFill>
                    <a:srgbClr val="3ECDE7"/>
                  </a:solidFill>
                </a:uFill>
                <a:latin typeface="Trebuchet MS"/>
                <a:cs typeface="Trebuchet MS"/>
                <a:hlinkClick r:id="rId5"/>
              </a:rPr>
              <a:t> </a:t>
            </a:r>
            <a:r>
              <a:rPr sz="2000" b="1" u="sng" dirty="0">
                <a:solidFill>
                  <a:srgbClr val="3ECDE7"/>
                </a:solidFill>
                <a:uFill>
                  <a:solidFill>
                    <a:srgbClr val="3ECDE7"/>
                  </a:solidFill>
                </a:uFill>
                <a:latin typeface="Trebuchet MS"/>
                <a:cs typeface="Trebuchet MS"/>
                <a:hlinkClick r:id="rId5"/>
              </a:rPr>
              <a:t>dataset</a:t>
            </a:r>
            <a:r>
              <a:rPr sz="2000" b="1" u="sng" spc="-85" dirty="0">
                <a:solidFill>
                  <a:srgbClr val="3ECDE7"/>
                </a:solidFill>
                <a:uFill>
                  <a:solidFill>
                    <a:srgbClr val="3ECDE7"/>
                  </a:solidFill>
                </a:uFill>
                <a:latin typeface="Trebuchet MS"/>
                <a:cs typeface="Trebuchet MS"/>
                <a:hlinkClick r:id="rId5"/>
              </a:rPr>
              <a:t> </a:t>
            </a:r>
            <a:r>
              <a:rPr sz="2000" b="1" u="sng" dirty="0">
                <a:solidFill>
                  <a:srgbClr val="3ECDE7"/>
                </a:solidFill>
                <a:uFill>
                  <a:solidFill>
                    <a:srgbClr val="3ECDE7"/>
                  </a:solidFill>
                </a:uFill>
                <a:latin typeface="Trebuchet MS"/>
                <a:cs typeface="Trebuchet MS"/>
                <a:hlinkClick r:id="rId5"/>
              </a:rPr>
              <a:t>from</a:t>
            </a:r>
            <a:r>
              <a:rPr sz="2000" b="1" u="sng" spc="-50" dirty="0">
                <a:solidFill>
                  <a:srgbClr val="3ECDE7"/>
                </a:solidFill>
                <a:uFill>
                  <a:solidFill>
                    <a:srgbClr val="3ECDE7"/>
                  </a:solidFill>
                </a:uFill>
                <a:latin typeface="Trebuchet MS"/>
                <a:cs typeface="Trebuchet MS"/>
                <a:hlinkClick r:id="rId5"/>
              </a:rPr>
              <a:t> </a:t>
            </a:r>
            <a:r>
              <a:rPr sz="2000" b="1" u="sng" dirty="0">
                <a:solidFill>
                  <a:srgbClr val="3ECDE7"/>
                </a:solidFill>
                <a:uFill>
                  <a:solidFill>
                    <a:srgbClr val="3ECDE7"/>
                  </a:solidFill>
                </a:uFill>
                <a:latin typeface="Trebuchet MS"/>
                <a:cs typeface="Trebuchet MS"/>
                <a:hlinkClick r:id="rId5"/>
              </a:rPr>
              <a:t>cardekho</a:t>
            </a:r>
            <a:r>
              <a:rPr sz="2000" b="1" u="sng" spc="-50" dirty="0">
                <a:solidFill>
                  <a:srgbClr val="3ECDE7"/>
                </a:solidFill>
                <a:uFill>
                  <a:solidFill>
                    <a:srgbClr val="3ECDE7"/>
                  </a:solidFill>
                </a:uFill>
                <a:latin typeface="Trebuchet MS"/>
                <a:cs typeface="Trebuchet MS"/>
                <a:hlinkClick r:id="rId5"/>
              </a:rPr>
              <a:t> </a:t>
            </a:r>
            <a:r>
              <a:rPr sz="2000" b="1" u="sng" spc="-10" dirty="0">
                <a:solidFill>
                  <a:srgbClr val="3ECDE7"/>
                </a:solidFill>
                <a:uFill>
                  <a:solidFill>
                    <a:srgbClr val="3ECDE7"/>
                  </a:solidFill>
                </a:uFill>
                <a:latin typeface="Trebuchet MS"/>
                <a:cs typeface="Trebuchet MS"/>
                <a:hlinkClick r:id="rId5"/>
              </a:rPr>
              <a:t>(kaggle.com)</a:t>
            </a:r>
            <a:endParaRPr sz="2000">
              <a:latin typeface="Trebuchet MS"/>
              <a:cs typeface="Trebuchet MS"/>
            </a:endParaRPr>
          </a:p>
        </p:txBody>
      </p:sp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548116" y="3136392"/>
            <a:ext cx="2759964" cy="3264408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012691"/>
            <a:ext cx="448309" cy="2845435"/>
          </a:xfrm>
          <a:custGeom>
            <a:avLst/>
            <a:gdLst/>
            <a:ahLst/>
            <a:cxnLst/>
            <a:rect l="l" t="t" r="r" b="b"/>
            <a:pathLst>
              <a:path w="448309" h="2845434">
                <a:moveTo>
                  <a:pt x="0" y="0"/>
                </a:moveTo>
                <a:lnTo>
                  <a:pt x="0" y="2845307"/>
                </a:lnTo>
                <a:lnTo>
                  <a:pt x="448056" y="2845307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47116" y="3467100"/>
            <a:ext cx="457200" cy="396240"/>
          </a:xfrm>
          <a:custGeom>
            <a:avLst/>
            <a:gdLst/>
            <a:ahLst/>
            <a:cxnLst/>
            <a:rect l="l" t="t" r="r" b="b"/>
            <a:pathLst>
              <a:path w="457200" h="396239">
                <a:moveTo>
                  <a:pt x="358140" y="0"/>
                </a:moveTo>
                <a:lnTo>
                  <a:pt x="99060" y="0"/>
                </a:lnTo>
                <a:lnTo>
                  <a:pt x="0" y="198119"/>
                </a:lnTo>
                <a:lnTo>
                  <a:pt x="99060" y="396239"/>
                </a:lnTo>
                <a:lnTo>
                  <a:pt x="358140" y="396239"/>
                </a:lnTo>
                <a:lnTo>
                  <a:pt x="457200" y="198119"/>
                </a:lnTo>
                <a:lnTo>
                  <a:pt x="358140" y="0"/>
                </a:lnTo>
                <a:close/>
              </a:path>
            </a:pathLst>
          </a:custGeom>
          <a:solidFill>
            <a:srgbClr val="5FCAEE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10882883" y="2202179"/>
            <a:ext cx="588645" cy="501650"/>
            <a:chOff x="10882883" y="2202179"/>
            <a:chExt cx="588645" cy="501650"/>
          </a:xfrm>
        </p:grpSpPr>
        <p:sp>
          <p:nvSpPr>
            <p:cNvPr id="6" name="object 6"/>
            <p:cNvSpPr/>
            <p:nvPr/>
          </p:nvSpPr>
          <p:spPr>
            <a:xfrm>
              <a:off x="11113007" y="2394203"/>
              <a:ext cx="358140" cy="309880"/>
            </a:xfrm>
            <a:custGeom>
              <a:avLst/>
              <a:gdLst/>
              <a:ahLst/>
              <a:cxnLst/>
              <a:rect l="l" t="t" r="r" b="b"/>
              <a:pathLst>
                <a:path w="358140" h="309880">
                  <a:moveTo>
                    <a:pt x="280797" y="0"/>
                  </a:moveTo>
                  <a:lnTo>
                    <a:pt x="77343" y="0"/>
                  </a:lnTo>
                  <a:lnTo>
                    <a:pt x="0" y="154686"/>
                  </a:lnTo>
                  <a:lnTo>
                    <a:pt x="77343" y="309372"/>
                  </a:lnTo>
                  <a:lnTo>
                    <a:pt x="280797" y="309372"/>
                  </a:lnTo>
                  <a:lnTo>
                    <a:pt x="358140" y="154686"/>
                  </a:lnTo>
                  <a:lnTo>
                    <a:pt x="280797" y="0"/>
                  </a:lnTo>
                  <a:close/>
                </a:path>
              </a:pathLst>
            </a:custGeom>
            <a:solidFill>
              <a:srgbClr val="2D83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82883" y="2202179"/>
              <a:ext cx="230124" cy="199644"/>
            </a:xfrm>
            <a:prstGeom prst="rect">
              <a:avLst/>
            </a:prstGeom>
          </p:spPr>
        </p:pic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4781803" y="642061"/>
            <a:ext cx="2638425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0" spc="-10" dirty="0">
                <a:solidFill>
                  <a:srgbClr val="5FCAEE"/>
                </a:solidFill>
                <a:latin typeface="Trebuchet MS"/>
                <a:cs typeface="Trebuchet MS"/>
              </a:rPr>
              <a:t>Conclusion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9612248" y="4669916"/>
            <a:ext cx="1003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Trebuchet MS"/>
                <a:cs typeface="Trebuchet MS"/>
              </a:rPr>
              <a:t>.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400" marR="17780">
              <a:lnSpc>
                <a:spcPct val="100000"/>
              </a:lnSpc>
              <a:spcBef>
                <a:spcPts val="105"/>
              </a:spcBef>
            </a:pPr>
            <a:r>
              <a:rPr dirty="0"/>
              <a:t>This</a:t>
            </a:r>
            <a:r>
              <a:rPr spc="-75" dirty="0"/>
              <a:t> </a:t>
            </a:r>
            <a:r>
              <a:rPr dirty="0"/>
              <a:t>project</a:t>
            </a:r>
            <a:r>
              <a:rPr spc="-75" dirty="0"/>
              <a:t> </a:t>
            </a:r>
            <a:r>
              <a:rPr dirty="0"/>
              <a:t>will</a:t>
            </a:r>
            <a:r>
              <a:rPr spc="-60" dirty="0"/>
              <a:t> </a:t>
            </a:r>
            <a:r>
              <a:rPr dirty="0"/>
              <a:t>provide</a:t>
            </a:r>
            <a:r>
              <a:rPr spc="-85" dirty="0"/>
              <a:t> </a:t>
            </a:r>
            <a:r>
              <a:rPr dirty="0"/>
              <a:t>a</a:t>
            </a:r>
            <a:r>
              <a:rPr spc="-75" dirty="0"/>
              <a:t> </a:t>
            </a:r>
            <a:r>
              <a:rPr dirty="0"/>
              <a:t>detailed</a:t>
            </a:r>
            <a:r>
              <a:rPr spc="-65" dirty="0"/>
              <a:t> </a:t>
            </a:r>
            <a:r>
              <a:rPr spc="-10" dirty="0"/>
              <a:t>analysis </a:t>
            </a:r>
            <a:r>
              <a:rPr dirty="0"/>
              <a:t>of</a:t>
            </a:r>
            <a:r>
              <a:rPr spc="-45" dirty="0"/>
              <a:t> </a:t>
            </a:r>
            <a:r>
              <a:rPr dirty="0"/>
              <a:t>the</a:t>
            </a:r>
            <a:r>
              <a:rPr spc="-50" dirty="0"/>
              <a:t> </a:t>
            </a:r>
            <a:r>
              <a:rPr dirty="0"/>
              <a:t>Car</a:t>
            </a:r>
            <a:r>
              <a:rPr spc="-60" dirty="0"/>
              <a:t> </a:t>
            </a:r>
            <a:r>
              <a:rPr dirty="0"/>
              <a:t>Dekho</a:t>
            </a:r>
            <a:r>
              <a:rPr spc="-70" dirty="0"/>
              <a:t> </a:t>
            </a:r>
            <a:r>
              <a:rPr dirty="0"/>
              <a:t>dataset,</a:t>
            </a:r>
            <a:r>
              <a:rPr spc="-30" dirty="0"/>
              <a:t> </a:t>
            </a:r>
            <a:r>
              <a:rPr dirty="0"/>
              <a:t>offering</a:t>
            </a:r>
            <a:r>
              <a:rPr spc="-45" dirty="0"/>
              <a:t> </a:t>
            </a:r>
            <a:r>
              <a:rPr spc="-10" dirty="0"/>
              <a:t>valuable </a:t>
            </a:r>
            <a:r>
              <a:rPr dirty="0"/>
              <a:t>insights</a:t>
            </a:r>
            <a:r>
              <a:rPr spc="-65" dirty="0"/>
              <a:t> </a:t>
            </a:r>
            <a:r>
              <a:rPr dirty="0"/>
              <a:t>into</a:t>
            </a:r>
            <a:r>
              <a:rPr spc="-70" dirty="0"/>
              <a:t> </a:t>
            </a:r>
            <a:r>
              <a:rPr dirty="0"/>
              <a:t>the</a:t>
            </a:r>
            <a:r>
              <a:rPr spc="-70" dirty="0"/>
              <a:t> </a:t>
            </a:r>
            <a:r>
              <a:rPr dirty="0"/>
              <a:t>car</a:t>
            </a:r>
            <a:r>
              <a:rPr spc="-55" dirty="0"/>
              <a:t> </a:t>
            </a:r>
            <a:r>
              <a:rPr dirty="0"/>
              <a:t>market.</a:t>
            </a:r>
            <a:r>
              <a:rPr spc="-75" dirty="0"/>
              <a:t> </a:t>
            </a:r>
            <a:r>
              <a:rPr spc="-25" dirty="0"/>
              <a:t>By </a:t>
            </a:r>
            <a:r>
              <a:rPr dirty="0"/>
              <a:t>understanding</a:t>
            </a:r>
            <a:r>
              <a:rPr spc="-105" dirty="0"/>
              <a:t> </a:t>
            </a:r>
            <a:r>
              <a:rPr dirty="0"/>
              <a:t>the</a:t>
            </a:r>
            <a:r>
              <a:rPr spc="-105" dirty="0"/>
              <a:t> </a:t>
            </a:r>
            <a:r>
              <a:rPr dirty="0"/>
              <a:t>factors</a:t>
            </a:r>
            <a:r>
              <a:rPr spc="-100" dirty="0"/>
              <a:t> </a:t>
            </a:r>
            <a:r>
              <a:rPr dirty="0"/>
              <a:t>that</a:t>
            </a:r>
            <a:r>
              <a:rPr spc="-100" dirty="0"/>
              <a:t> </a:t>
            </a:r>
            <a:r>
              <a:rPr spc="-10" dirty="0"/>
              <a:t>influence </a:t>
            </a:r>
            <a:r>
              <a:rPr dirty="0"/>
              <a:t>car</a:t>
            </a:r>
            <a:r>
              <a:rPr spc="-75" dirty="0"/>
              <a:t> </a:t>
            </a:r>
            <a:r>
              <a:rPr dirty="0"/>
              <a:t>prices</a:t>
            </a:r>
            <a:r>
              <a:rPr spc="-70" dirty="0"/>
              <a:t> </a:t>
            </a:r>
            <a:r>
              <a:rPr dirty="0"/>
              <a:t>and</a:t>
            </a:r>
            <a:r>
              <a:rPr spc="-60" dirty="0"/>
              <a:t> </a:t>
            </a:r>
            <a:r>
              <a:rPr dirty="0"/>
              <a:t>identifying</a:t>
            </a:r>
            <a:r>
              <a:rPr spc="-90" dirty="0"/>
              <a:t> </a:t>
            </a:r>
            <a:r>
              <a:rPr dirty="0"/>
              <a:t>market</a:t>
            </a:r>
            <a:r>
              <a:rPr spc="-65" dirty="0"/>
              <a:t> </a:t>
            </a:r>
            <a:r>
              <a:rPr spc="-10" dirty="0"/>
              <a:t>trends, </a:t>
            </a:r>
            <a:r>
              <a:rPr dirty="0"/>
              <a:t>stakeholders</a:t>
            </a:r>
            <a:r>
              <a:rPr spc="-114" dirty="0"/>
              <a:t> </a:t>
            </a:r>
            <a:r>
              <a:rPr dirty="0"/>
              <a:t>can</a:t>
            </a:r>
            <a:r>
              <a:rPr spc="-110" dirty="0"/>
              <a:t> </a:t>
            </a:r>
            <a:r>
              <a:rPr dirty="0"/>
              <a:t>make</a:t>
            </a:r>
            <a:r>
              <a:rPr spc="-110" dirty="0"/>
              <a:t> </a:t>
            </a:r>
            <a:r>
              <a:rPr dirty="0"/>
              <a:t>more</a:t>
            </a:r>
            <a:r>
              <a:rPr spc="-125" dirty="0"/>
              <a:t> </a:t>
            </a:r>
            <a:r>
              <a:rPr spc="-10" dirty="0"/>
              <a:t>informed </a:t>
            </a:r>
            <a:r>
              <a:rPr dirty="0"/>
              <a:t>decisions,</a:t>
            </a:r>
            <a:r>
              <a:rPr spc="-114" dirty="0"/>
              <a:t> </a:t>
            </a:r>
            <a:r>
              <a:rPr dirty="0"/>
              <a:t>leading</a:t>
            </a:r>
            <a:r>
              <a:rPr spc="-165" dirty="0"/>
              <a:t> </a:t>
            </a:r>
            <a:r>
              <a:rPr sz="2400" spc="-727" baseline="67708" dirty="0"/>
              <a:t>.</a:t>
            </a:r>
            <a:r>
              <a:rPr sz="3200" spc="30" dirty="0"/>
              <a:t>to</a:t>
            </a:r>
            <a:r>
              <a:rPr sz="3200" spc="-100" dirty="0"/>
              <a:t> </a:t>
            </a:r>
            <a:r>
              <a:rPr sz="3200" dirty="0"/>
              <a:t>better</a:t>
            </a:r>
            <a:r>
              <a:rPr sz="3200" spc="-100" dirty="0"/>
              <a:t> </a:t>
            </a:r>
            <a:r>
              <a:rPr sz="3200" dirty="0"/>
              <a:t>outcomes</a:t>
            </a:r>
            <a:r>
              <a:rPr sz="3200" spc="-100" dirty="0"/>
              <a:t> </a:t>
            </a:r>
            <a:r>
              <a:rPr sz="3200" spc="-25" dirty="0"/>
              <a:t>in </a:t>
            </a:r>
            <a:r>
              <a:rPr sz="3200" dirty="0"/>
              <a:t>the</a:t>
            </a:r>
            <a:r>
              <a:rPr sz="3200" spc="-60" dirty="0"/>
              <a:t> </a:t>
            </a:r>
            <a:r>
              <a:rPr sz="3200" dirty="0"/>
              <a:t>automotive</a:t>
            </a:r>
            <a:r>
              <a:rPr sz="3200" spc="-55" dirty="0"/>
              <a:t> </a:t>
            </a:r>
            <a:r>
              <a:rPr sz="3200" spc="-10" dirty="0"/>
              <a:t>industry.</a:t>
            </a:r>
            <a:endParaRPr sz="3200"/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14706" y="6472428"/>
            <a:ext cx="238082" cy="192011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012691"/>
            <a:ext cx="448309" cy="2845435"/>
          </a:xfrm>
          <a:custGeom>
            <a:avLst/>
            <a:gdLst/>
            <a:ahLst/>
            <a:cxnLst/>
            <a:rect l="l" t="t" r="r" b="b"/>
            <a:pathLst>
              <a:path w="448309" h="2845434">
                <a:moveTo>
                  <a:pt x="0" y="0"/>
                </a:moveTo>
                <a:lnTo>
                  <a:pt x="0" y="2845307"/>
                </a:lnTo>
                <a:lnTo>
                  <a:pt x="448056" y="2845307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39241" y="6461556"/>
            <a:ext cx="177800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2D83C3"/>
                </a:solidFill>
                <a:latin typeface="Trebuchet MS"/>
                <a:cs typeface="Trebuchet MS"/>
              </a:rPr>
              <a:t>7/13/2024</a:t>
            </a:r>
            <a:r>
              <a:rPr sz="1100" spc="140" dirty="0">
                <a:solidFill>
                  <a:srgbClr val="2D83C3"/>
                </a:solidFill>
                <a:latin typeface="Trebuchet MS"/>
                <a:cs typeface="Trebuchet MS"/>
              </a:rPr>
              <a:t>  </a:t>
            </a:r>
            <a:r>
              <a:rPr sz="1100" b="1" dirty="0">
                <a:solidFill>
                  <a:srgbClr val="2D83C3"/>
                </a:solidFill>
                <a:latin typeface="Trebuchet MS"/>
                <a:cs typeface="Trebuchet MS"/>
              </a:rPr>
              <a:t>Annual </a:t>
            </a:r>
            <a:r>
              <a:rPr sz="1100" b="1" spc="-10" dirty="0">
                <a:solidFill>
                  <a:srgbClr val="2D83C3"/>
                </a:solidFill>
                <a:latin typeface="Trebuchet MS"/>
                <a:cs typeface="Trebuchet MS"/>
              </a:rPr>
              <a:t>Review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298173" y="6461556"/>
            <a:ext cx="17208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solidFill>
                  <a:srgbClr val="2D936B"/>
                </a:solidFill>
                <a:latin typeface="Trebuchet MS"/>
                <a:cs typeface="Trebuchet MS"/>
              </a:rPr>
              <a:t>18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7116" y="3467100"/>
            <a:ext cx="457200" cy="396240"/>
          </a:xfrm>
          <a:custGeom>
            <a:avLst/>
            <a:gdLst/>
            <a:ahLst/>
            <a:cxnLst/>
            <a:rect l="l" t="t" r="r" b="b"/>
            <a:pathLst>
              <a:path w="457200" h="396239">
                <a:moveTo>
                  <a:pt x="358140" y="0"/>
                </a:moveTo>
                <a:lnTo>
                  <a:pt x="99060" y="0"/>
                </a:lnTo>
                <a:lnTo>
                  <a:pt x="0" y="198119"/>
                </a:lnTo>
                <a:lnTo>
                  <a:pt x="99060" y="396239"/>
                </a:lnTo>
                <a:lnTo>
                  <a:pt x="358140" y="396239"/>
                </a:lnTo>
                <a:lnTo>
                  <a:pt x="457200" y="198119"/>
                </a:lnTo>
                <a:lnTo>
                  <a:pt x="358140" y="0"/>
                </a:lnTo>
                <a:close/>
              </a:path>
            </a:pathLst>
          </a:custGeom>
          <a:solidFill>
            <a:srgbClr val="5FCAEE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10882883" y="2202179"/>
            <a:ext cx="588645" cy="501650"/>
            <a:chOff x="10882883" y="2202179"/>
            <a:chExt cx="588645" cy="501650"/>
          </a:xfrm>
        </p:grpSpPr>
        <p:sp>
          <p:nvSpPr>
            <p:cNvPr id="7" name="object 7"/>
            <p:cNvSpPr/>
            <p:nvPr/>
          </p:nvSpPr>
          <p:spPr>
            <a:xfrm>
              <a:off x="11113007" y="2394203"/>
              <a:ext cx="358140" cy="309880"/>
            </a:xfrm>
            <a:custGeom>
              <a:avLst/>
              <a:gdLst/>
              <a:ahLst/>
              <a:cxnLst/>
              <a:rect l="l" t="t" r="r" b="b"/>
              <a:pathLst>
                <a:path w="358140" h="309880">
                  <a:moveTo>
                    <a:pt x="280797" y="0"/>
                  </a:moveTo>
                  <a:lnTo>
                    <a:pt x="77343" y="0"/>
                  </a:lnTo>
                  <a:lnTo>
                    <a:pt x="0" y="154686"/>
                  </a:lnTo>
                  <a:lnTo>
                    <a:pt x="77343" y="309372"/>
                  </a:lnTo>
                  <a:lnTo>
                    <a:pt x="280797" y="309372"/>
                  </a:lnTo>
                  <a:lnTo>
                    <a:pt x="358140" y="154686"/>
                  </a:lnTo>
                  <a:lnTo>
                    <a:pt x="280797" y="0"/>
                  </a:lnTo>
                  <a:close/>
                </a:path>
              </a:pathLst>
            </a:custGeom>
            <a:solidFill>
              <a:srgbClr val="2D83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82883" y="2202179"/>
              <a:ext cx="230124" cy="199644"/>
            </a:xfrm>
            <a:prstGeom prst="rect">
              <a:avLst/>
            </a:prstGeom>
          </p:spPr>
        </p:pic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1745360" y="588390"/>
            <a:ext cx="6088380" cy="2555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600" spc="-10" dirty="0">
                <a:solidFill>
                  <a:srgbClr val="7E7E7E"/>
                </a:solidFill>
              </a:rPr>
              <a:t>Thank</a:t>
            </a:r>
            <a:endParaRPr sz="16600"/>
          </a:p>
        </p:txBody>
      </p:sp>
      <p:sp>
        <p:nvSpPr>
          <p:cNvPr id="10" name="object 10"/>
          <p:cNvSpPr txBox="1"/>
          <p:nvPr/>
        </p:nvSpPr>
        <p:spPr>
          <a:xfrm>
            <a:off x="5407914" y="3118866"/>
            <a:ext cx="3590290" cy="2555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600" b="1" spc="-25" dirty="0">
                <a:solidFill>
                  <a:srgbClr val="7E7E7E"/>
                </a:solidFill>
                <a:latin typeface="Trebuchet MS"/>
                <a:cs typeface="Trebuchet MS"/>
              </a:rPr>
              <a:t>you</a:t>
            </a:r>
            <a:endParaRPr sz="166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748021" y="4669916"/>
            <a:ext cx="1003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Trebuchet MS"/>
                <a:cs typeface="Trebuchet MS"/>
              </a:rPr>
              <a:t>.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612248" y="4669916"/>
            <a:ext cx="1003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Trebuchet MS"/>
                <a:cs typeface="Trebuchet MS"/>
              </a:rPr>
              <a:t>.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76655" y="3691128"/>
            <a:ext cx="2496820" cy="3009900"/>
            <a:chOff x="676655" y="3691128"/>
            <a:chExt cx="2496820" cy="3009900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6655" y="6472428"/>
              <a:ext cx="2142744" cy="19201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46275" y="3691128"/>
              <a:ext cx="1726692" cy="3009900"/>
            </a:xfrm>
            <a:prstGeom prst="rect">
              <a:avLst/>
            </a:prstGeom>
          </p:spPr>
        </p:pic>
      </p:grpSp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235695" y="384047"/>
            <a:ext cx="2761488" cy="32644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3ECDE7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1289</Words>
  <Application>Microsoft Office PowerPoint</Application>
  <PresentationFormat>Widescreen</PresentationFormat>
  <Paragraphs>103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Arial MT</vt:lpstr>
      <vt:lpstr>Calibri</vt:lpstr>
      <vt:lpstr>Times New Roman</vt:lpstr>
      <vt:lpstr>Trebuchet MS</vt:lpstr>
      <vt:lpstr>Wingdings</vt:lpstr>
      <vt:lpstr>Office Theme</vt:lpstr>
      <vt:lpstr>Car Market Trends Analysis with Car Dekho Data -</vt:lpstr>
      <vt:lpstr>PROBLEM  STATEMENT</vt:lpstr>
      <vt:lpstr>Project Description</vt:lpstr>
      <vt:lpstr>Objectives</vt:lpstr>
      <vt:lpstr>Methodology</vt:lpstr>
      <vt:lpstr>WHO ARE THE END USERS?</vt:lpstr>
      <vt:lpstr>Technology Used</vt:lpstr>
      <vt:lpstr>EDA RESULTS</vt:lpstr>
      <vt:lpstr>EDA RESULTS</vt:lpstr>
      <vt:lpstr>EDA RESULTS</vt:lpstr>
      <vt:lpstr>EDA RESULTS</vt:lpstr>
      <vt:lpstr>EDA RESULTS</vt:lpstr>
      <vt:lpstr>EDA RESULTS</vt:lpstr>
      <vt:lpstr>EDA RESULTS</vt:lpstr>
      <vt:lpstr>Code Execution &amp; Data Sets</vt:lpstr>
      <vt:lpstr>References</vt:lpstr>
      <vt:lpstr>Conclusion</vt:lpstr>
      <vt:lpstr>Thank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Darsan Mannem</cp:lastModifiedBy>
  <cp:revision>1</cp:revision>
  <dcterms:created xsi:type="dcterms:W3CDTF">2026-08-30T17:12:40Z</dcterms:created>
  <dcterms:modified xsi:type="dcterms:W3CDTF">2026-08-30T17:19:51Z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2024-07-13T00:00:00Z</vt:filetime>
  </property>
  <property fmtid="{D5CDD505-2E9C-101B-9397-08002B2CF9AE}" pid="4" name="Creator">
    <vt:lpwstr>Microsoft® PowerPoint® for Microsoft 365</vt:lpwstr>
  </property>
  <property fmtid="{D5CDD505-2E9C-101B-9397-08002B2CF9AE}" pid="5" name="LastSaved">
    <vt:filetime>2026-08-30T00:00:00Z</vt:filetime>
  </property>
  <property fmtid="{D5CDD505-2E9C-101B-9397-08002B2CF9AE}" pid="6" name="Producer">
    <vt:lpwstr>Microsoft® PowerPoint® for Microsoft 365</vt:lpwstr>
  </property>
</Properties>
</file>